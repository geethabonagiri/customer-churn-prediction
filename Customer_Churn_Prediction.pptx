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6" r:id="rId6"/>
    <p:sldId id="269" r:id="rId7"/>
    <p:sldId id="260" r:id="rId8"/>
    <p:sldId id="270" r:id="rId9"/>
    <p:sldId id="271" r:id="rId10"/>
    <p:sldId id="261" r:id="rId11"/>
    <p:sldId id="277" r:id="rId12"/>
    <p:sldId id="272" r:id="rId13"/>
    <p:sldId id="273" r:id="rId14"/>
    <p:sldId id="262" r:id="rId15"/>
    <p:sldId id="274" r:id="rId16"/>
    <p:sldId id="278" r:id="rId17"/>
    <p:sldId id="275" r:id="rId18"/>
    <p:sldId id="263" r:id="rId19"/>
    <p:sldId id="279" r:id="rId20"/>
    <p:sldId id="264" r:id="rId21"/>
    <p:sldId id="280" r:id="rId22"/>
    <p:sldId id="265" r:id="rId23"/>
    <p:sldId id="266" r:id="rId24"/>
    <p:sldId id="267" r:id="rId25"/>
    <p:sldId id="268"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2A33C4-2702-40C4-B2A2-5990A726C4F0}" v="6" dt="2026-05-14T11:27:24.2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47" autoAdjust="0"/>
    <p:restoredTop sz="94660"/>
  </p:normalViewPr>
  <p:slideViewPr>
    <p:cSldViewPr snapToGrid="0" snapToObjects="1">
      <p:cViewPr varScale="1">
        <p:scale>
          <a:sx n="78" d="100"/>
          <a:sy n="78" d="100"/>
        </p:scale>
        <p:origin x="119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NAGIRI GEETHA" userId="7df3fd25dc834107" providerId="LiveId" clId="{55D7D1E3-BF97-4DD6-A9EE-4152CA244FF4}"/>
    <pc:docChg chg="undo custSel modSld">
      <pc:chgData name="BONAGIRI GEETHA" userId="7df3fd25dc834107" providerId="LiveId" clId="{55D7D1E3-BF97-4DD6-A9EE-4152CA244FF4}" dt="2026-05-15T04:11:00.165" v="15" actId="931"/>
      <pc:docMkLst>
        <pc:docMk/>
      </pc:docMkLst>
      <pc:sldChg chg="addSp delSp modSp mod">
        <pc:chgData name="BONAGIRI GEETHA" userId="7df3fd25dc834107" providerId="LiveId" clId="{55D7D1E3-BF97-4DD6-A9EE-4152CA244FF4}" dt="2026-05-14T11:28:50.844" v="13" actId="2711"/>
        <pc:sldMkLst>
          <pc:docMk/>
          <pc:sldMk cId="0" sldId="257"/>
        </pc:sldMkLst>
        <pc:spChg chg="mod">
          <ac:chgData name="BONAGIRI GEETHA" userId="7df3fd25dc834107" providerId="LiveId" clId="{55D7D1E3-BF97-4DD6-A9EE-4152CA244FF4}" dt="2026-05-14T11:20:45.140" v="0" actId="255"/>
          <ac:spMkLst>
            <pc:docMk/>
            <pc:sldMk cId="0" sldId="257"/>
            <ac:spMk id="2" creationId="{00000000-0000-0000-0000-000000000000}"/>
          </ac:spMkLst>
        </pc:spChg>
        <pc:spChg chg="del mod">
          <ac:chgData name="BONAGIRI GEETHA" userId="7df3fd25dc834107" providerId="LiveId" clId="{55D7D1E3-BF97-4DD6-A9EE-4152CA244FF4}" dt="2026-05-14T11:26:32.810" v="5"/>
          <ac:spMkLst>
            <pc:docMk/>
            <pc:sldMk cId="0" sldId="257"/>
            <ac:spMk id="3" creationId="{00000000-0000-0000-0000-000000000000}"/>
          </ac:spMkLst>
        </pc:spChg>
        <pc:spChg chg="add mod">
          <ac:chgData name="BONAGIRI GEETHA" userId="7df3fd25dc834107" providerId="LiveId" clId="{55D7D1E3-BF97-4DD6-A9EE-4152CA244FF4}" dt="2026-05-14T11:28:50.844" v="13" actId="2711"/>
          <ac:spMkLst>
            <pc:docMk/>
            <pc:sldMk cId="0" sldId="257"/>
            <ac:spMk id="4" creationId="{29790893-F66A-C215-4838-DE096182B348}"/>
          </ac:spMkLst>
        </pc:spChg>
      </pc:sldChg>
      <pc:sldChg chg="addSp delSp modSp mod">
        <pc:chgData name="BONAGIRI GEETHA" userId="7df3fd25dc834107" providerId="LiveId" clId="{55D7D1E3-BF97-4DD6-A9EE-4152CA244FF4}" dt="2026-05-15T04:11:00.165" v="15" actId="931"/>
        <pc:sldMkLst>
          <pc:docMk/>
          <pc:sldMk cId="2209576067" sldId="276"/>
        </pc:sldMkLst>
        <pc:picChg chg="add del mod">
          <ac:chgData name="BONAGIRI GEETHA" userId="7df3fd25dc834107" providerId="LiveId" clId="{55D7D1E3-BF97-4DD6-A9EE-4152CA244FF4}" dt="2026-05-15T04:11:00.165" v="15" actId="931"/>
          <ac:picMkLst>
            <pc:docMk/>
            <pc:sldMk cId="2209576067" sldId="276"/>
            <ac:picMk id="3" creationId="{FC66CE00-7DDC-A4C9-2C37-9EAC2117478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60440"/>
            <a:ext cx="8229600" cy="5565724"/>
          </a:xfrm>
        </p:spPr>
        <p:txBody>
          <a:bodyPr>
            <a:normAutofit fontScale="85000" lnSpcReduction="20000"/>
          </a:bodyPr>
          <a:lstStyle/>
          <a:p>
            <a:pPr marL="0" indent="0" algn="ctr">
              <a:buNone/>
            </a:pPr>
            <a:r>
              <a:rPr lang="en-IN" sz="5400" b="1" dirty="0"/>
              <a:t>Customer Churn Prediction presentation</a:t>
            </a:r>
          </a:p>
          <a:p>
            <a:pPr marL="0" indent="0" algn="ctr">
              <a:buNone/>
            </a:pPr>
            <a:r>
              <a:rPr lang="en-IN" sz="3800" dirty="0"/>
              <a:t>CUSTOMER CHURN </a:t>
            </a:r>
            <a:r>
              <a:rPr lang="en-IN" sz="3600" dirty="0"/>
              <a:t>PREDICTIONUSING PYTHON</a:t>
            </a:r>
          </a:p>
          <a:p>
            <a:pPr marL="0" indent="0" algn="ctr">
              <a:buNone/>
            </a:pPr>
            <a:r>
              <a:rPr lang="en-IN" sz="4400" dirty="0"/>
              <a:t>Minor Project Report</a:t>
            </a:r>
          </a:p>
          <a:p>
            <a:pPr marL="0" indent="0" algn="r">
              <a:buNone/>
            </a:pPr>
            <a:endParaRPr lang="en-IN" dirty="0"/>
          </a:p>
          <a:p>
            <a:pPr marL="0" indent="0" algn="r">
              <a:buNone/>
            </a:pPr>
            <a:r>
              <a:rPr lang="en-IN" b="1" dirty="0"/>
              <a:t>Submitted By</a:t>
            </a:r>
            <a:endParaRPr lang="en-IN" dirty="0"/>
          </a:p>
          <a:p>
            <a:pPr marL="0" indent="0" algn="r">
              <a:buNone/>
            </a:pPr>
            <a:r>
              <a:rPr lang="en-IN" b="1" dirty="0" err="1"/>
              <a:t>Name</a:t>
            </a:r>
            <a:r>
              <a:rPr lang="en-IN" dirty="0" err="1"/>
              <a:t>:Bonagiri</a:t>
            </a:r>
            <a:r>
              <a:rPr lang="en-IN" dirty="0"/>
              <a:t> </a:t>
            </a:r>
            <a:r>
              <a:rPr lang="en-IN" dirty="0" err="1"/>
              <a:t>geetha</a:t>
            </a:r>
            <a:endParaRPr lang="en-IN" dirty="0"/>
          </a:p>
          <a:p>
            <a:pPr marL="0" indent="0" algn="r">
              <a:buNone/>
            </a:pPr>
            <a:r>
              <a:rPr lang="en-IN" b="1" dirty="0"/>
              <a:t>College </a:t>
            </a:r>
            <a:r>
              <a:rPr lang="en-IN" b="1" dirty="0" err="1"/>
              <a:t>Name</a:t>
            </a:r>
            <a:r>
              <a:rPr lang="en-IN" dirty="0" err="1"/>
              <a:t>:CMR</a:t>
            </a:r>
            <a:r>
              <a:rPr lang="en-IN" dirty="0"/>
              <a:t> Technical campus</a:t>
            </a:r>
          </a:p>
          <a:p>
            <a:pPr marL="0" indent="0" algn="r">
              <a:buNone/>
            </a:pPr>
            <a:r>
              <a:rPr lang="en-IN" b="1" dirty="0"/>
              <a:t>Internship </a:t>
            </a:r>
            <a:r>
              <a:rPr lang="en-IN" b="1" dirty="0" err="1"/>
              <a:t>Organization</a:t>
            </a:r>
            <a:r>
              <a:rPr lang="en-IN" dirty="0" err="1"/>
              <a:t>:SkillHigh</a:t>
            </a:r>
            <a:endParaRPr lang="en-IN" dirty="0"/>
          </a:p>
          <a:p>
            <a:pPr marL="0" indent="0" algn="r">
              <a:buNone/>
            </a:pPr>
            <a:r>
              <a:rPr lang="en-IN" b="1" dirty="0" err="1"/>
              <a:t>Department:</a:t>
            </a:r>
            <a:r>
              <a:rPr lang="en-IN" dirty="0" err="1"/>
              <a:t>CSE</a:t>
            </a:r>
            <a:r>
              <a:rPr lang="en-IN" dirty="0"/>
              <a:t>(Data science)</a:t>
            </a:r>
          </a:p>
          <a:p>
            <a:pPr marL="0" indent="0" algn="r">
              <a:buNone/>
            </a:pPr>
            <a:r>
              <a:rPr lang="en-IN" b="1" dirty="0"/>
              <a:t>Academic Year</a:t>
            </a:r>
            <a:r>
              <a:rPr lang="en-IN" dirty="0"/>
              <a:t>: 2025-2026</a:t>
            </a:r>
          </a:p>
          <a:p>
            <a:pPr marL="0" indent="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Introduction</a:t>
            </a:r>
          </a:p>
        </p:txBody>
      </p:sp>
      <p:sp>
        <p:nvSpPr>
          <p:cNvPr id="4" name="Rectangle 1">
            <a:extLst>
              <a:ext uri="{FF2B5EF4-FFF2-40B4-BE49-F238E27FC236}">
                <a16:creationId xmlns:a16="http://schemas.microsoft.com/office/drawing/2014/main" id="{29790893-F66A-C215-4838-DE096182B348}"/>
              </a:ext>
            </a:extLst>
          </p:cNvPr>
          <p:cNvSpPr>
            <a:spLocks noGrp="1" noChangeArrowheads="1"/>
          </p:cNvSpPr>
          <p:nvPr>
            <p:ph idx="1"/>
          </p:nvPr>
        </p:nvSpPr>
        <p:spPr bwMode="auto">
          <a:xfrm>
            <a:off x="552659" y="1232331"/>
            <a:ext cx="8134141"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Customer Churn Prediction is a Machine Learning application used to identify customers who are likely to leave a company’s service. </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Customer churn is one of the major challenges faced by telecom companies because losing customers directly affects revenue and business growth. </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Retaining existing customers is more cost-effective than acquiring new customers. </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By predicting churn early, companies can take preventive actions to improve customer satisfaction and customer retention. </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This project uses the Telco Customer Churn dataset, which contains customer information such as demographics, internet services, contract type, monthly charges, tenure, and payment methods. </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Data preprocessing techniques such as handling missing values and label encoding are applied to prepare the dataset for Machine Learning. </a:t>
            </a:r>
          </a:p>
          <a:p>
            <a:pPr marR="0" lvl="0"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7"/>
            <a:ext cx="8229600" cy="1426343"/>
          </a:xfrm>
        </p:spPr>
        <p:txBody>
          <a:bodyPr/>
          <a:lstStyle/>
          <a:p>
            <a:r>
              <a:rPr dirty="0"/>
              <a:t>Objective</a:t>
            </a:r>
          </a:p>
        </p:txBody>
      </p:sp>
      <p:sp>
        <p:nvSpPr>
          <p:cNvPr id="4" name="Rectangle 1">
            <a:extLst>
              <a:ext uri="{FF2B5EF4-FFF2-40B4-BE49-F238E27FC236}">
                <a16:creationId xmlns:a16="http://schemas.microsoft.com/office/drawing/2014/main" id="{D36CBF62-B267-F519-95FA-926864EBEE53}"/>
              </a:ext>
            </a:extLst>
          </p:cNvPr>
          <p:cNvSpPr>
            <a:spLocks noGrp="1" noChangeArrowheads="1"/>
          </p:cNvSpPr>
          <p:nvPr>
            <p:ph idx="1"/>
          </p:nvPr>
        </p:nvSpPr>
        <p:spPr bwMode="auto">
          <a:xfrm>
            <a:off x="368710" y="1220097"/>
            <a:ext cx="844099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To analyze customer data and understand the factors influencing customer churn.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To build a Machine Learning model that can accurately predict whether a customer will leave the telecom service or continue using it.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To preprocess and clean the dataset by handling missing values and converting categorical data into numerical format.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To identify important customer attributes such as contract type, tenure, monthly charges, and internet services that affect churn behavior.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To apply the Random Forest Machine Learning algorithm for classification and prediction.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To evaluate the model performance using accuracy score, confusion matrix, and classification report. </a:t>
            </a:r>
          </a:p>
          <a:p>
            <a:pPr marR="0" lvl="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dirty="0"/>
              <a:t>Dataset</a:t>
            </a:r>
          </a:p>
        </p:txBody>
      </p:sp>
      <p:sp>
        <p:nvSpPr>
          <p:cNvPr id="3" name="Content Placeholder 2"/>
          <p:cNvSpPr>
            <a:spLocks noGrp="1"/>
          </p:cNvSpPr>
          <p:nvPr>
            <p:ph idx="1"/>
          </p:nvPr>
        </p:nvSpPr>
        <p:spPr>
          <a:xfrm>
            <a:off x="457199" y="1417638"/>
            <a:ext cx="8352503" cy="4525963"/>
          </a:xfrm>
        </p:spPr>
        <p:txBody>
          <a:bodyPr>
            <a:normAutofit/>
          </a:bodyPr>
          <a:lstStyle/>
          <a:p>
            <a:pPr marL="514350" indent="-514350">
              <a:buFont typeface="+mj-lt"/>
              <a:buAutoNum type="arabicPeriod"/>
            </a:pPr>
            <a:r>
              <a:rPr lang="en-US" sz="1800" dirty="0"/>
              <a:t>The project uses the Telco Customer Churn Dataset, which contains customer information collected from a telecom company. </a:t>
            </a:r>
          </a:p>
          <a:p>
            <a:pPr marL="514350" indent="-514350">
              <a:buFont typeface="+mj-lt"/>
              <a:buAutoNum type="arabicPeriod"/>
            </a:pPr>
            <a:r>
              <a:rPr lang="en-US" sz="1800" dirty="0"/>
              <a:t>The dataset is widely used for Machine Learning and Data Analytics projects related to customer retention and churn prediction. </a:t>
            </a:r>
          </a:p>
          <a:p>
            <a:pPr marL="514350" indent="-514350">
              <a:buFont typeface="+mj-lt"/>
              <a:buAutoNum type="arabicPeriod"/>
            </a:pPr>
            <a:r>
              <a:rPr lang="en-US" sz="1800" dirty="0"/>
              <a:t>It contains a total of 7043 customer records and 21 columns/features. </a:t>
            </a:r>
          </a:p>
          <a:p>
            <a:pPr marL="514350" indent="-514350">
              <a:buFont typeface="+mj-lt"/>
              <a:buAutoNum type="arabicPeriod"/>
            </a:pPr>
            <a:r>
              <a:rPr lang="en-US" sz="1800" dirty="0"/>
              <a:t>Each row in the dataset represents an individual customer and their service details. </a:t>
            </a:r>
          </a:p>
          <a:p>
            <a:pPr marL="514350" indent="-514350">
              <a:buFont typeface="+mj-lt"/>
              <a:buAutoNum type="arabicPeriod"/>
            </a:pPr>
            <a:r>
              <a:rPr lang="en-US" sz="1800" dirty="0"/>
              <a:t>The dataset includes both categorical and numerical attributes related to customer behavior and telecom services. </a:t>
            </a:r>
          </a:p>
          <a:p>
            <a:pPr marL="514350" indent="-514350">
              <a:buFont typeface="+mj-lt"/>
              <a:buAutoNum type="arabicPeriod"/>
            </a:pPr>
            <a:endParaRPr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160A5B4-CA09-4D78-C4D7-25EEB7E00FF6}"/>
              </a:ext>
            </a:extLst>
          </p:cNvPr>
          <p:cNvPicPr>
            <a:picLocks noGrp="1" noChangeAspect="1"/>
          </p:cNvPicPr>
          <p:nvPr>
            <p:ph idx="1"/>
          </p:nvPr>
        </p:nvPicPr>
        <p:blipFill>
          <a:blip r:embed="rId2"/>
          <a:srcRect l="19432" t="22659" r="36686" b="32326"/>
          <a:stretch>
            <a:fillRect/>
          </a:stretch>
        </p:blipFill>
        <p:spPr>
          <a:xfrm>
            <a:off x="383488" y="934065"/>
            <a:ext cx="3345977" cy="3549445"/>
          </a:xfrm>
          <a:prstGeom prst="rect">
            <a:avLst/>
          </a:prstGeom>
        </p:spPr>
      </p:pic>
      <p:pic>
        <p:nvPicPr>
          <p:cNvPr id="13" name="Picture 12">
            <a:extLst>
              <a:ext uri="{FF2B5EF4-FFF2-40B4-BE49-F238E27FC236}">
                <a16:creationId xmlns:a16="http://schemas.microsoft.com/office/drawing/2014/main" id="{FDE2C072-468F-2800-7AEF-E8764854EDDB}"/>
              </a:ext>
            </a:extLst>
          </p:cNvPr>
          <p:cNvPicPr>
            <a:picLocks noChangeAspect="1"/>
          </p:cNvPicPr>
          <p:nvPr/>
        </p:nvPicPr>
        <p:blipFill>
          <a:blip r:embed="rId3"/>
          <a:srcRect b="45015"/>
          <a:stretch>
            <a:fillRect/>
          </a:stretch>
        </p:blipFill>
        <p:spPr>
          <a:xfrm>
            <a:off x="3852672" y="1140543"/>
            <a:ext cx="5029200" cy="3952568"/>
          </a:xfrm>
          <a:prstGeom prst="rect">
            <a:avLst/>
          </a:prstGeom>
        </p:spPr>
      </p:pic>
    </p:spTree>
    <p:extLst>
      <p:ext uri="{BB962C8B-B14F-4D97-AF65-F5344CB8AC3E}">
        <p14:creationId xmlns:p14="http://schemas.microsoft.com/office/powerpoint/2010/main" val="2209576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99E411-8C76-2EB0-10B5-9D09750B7870}"/>
              </a:ext>
            </a:extLst>
          </p:cNvPr>
          <p:cNvSpPr>
            <a:spLocks noGrp="1"/>
          </p:cNvSpPr>
          <p:nvPr>
            <p:ph idx="1"/>
          </p:nvPr>
        </p:nvSpPr>
        <p:spPr>
          <a:xfrm>
            <a:off x="457200" y="196646"/>
            <a:ext cx="8229600" cy="6499122"/>
          </a:xfrm>
        </p:spPr>
        <p:txBody>
          <a:bodyPr>
            <a:normAutofit lnSpcReduction="10000"/>
          </a:bodyPr>
          <a:lstStyle/>
          <a:p>
            <a:pPr>
              <a:buFont typeface="Wingdings" panose="05000000000000000000" pitchFamily="2" charset="2"/>
              <a:buChar char="Ø"/>
            </a:pPr>
            <a:r>
              <a:rPr lang="en-US" b="1" dirty="0"/>
              <a:t>Important Features in the Dataset</a:t>
            </a:r>
          </a:p>
          <a:p>
            <a:pPr marL="0" indent="0">
              <a:buNone/>
            </a:pPr>
            <a:endParaRPr lang="en-US" b="1" dirty="0"/>
          </a:p>
          <a:p>
            <a:pPr marL="514350" indent="-514350">
              <a:buFont typeface="+mj-lt"/>
              <a:buAutoNum type="arabicPeriod"/>
            </a:pPr>
            <a:r>
              <a:rPr lang="en-US" sz="1900" dirty="0"/>
              <a:t>Gender</a:t>
            </a:r>
          </a:p>
          <a:p>
            <a:pPr marL="514350" indent="-514350">
              <a:buFont typeface="+mj-lt"/>
              <a:buAutoNum type="arabicPeriod"/>
            </a:pPr>
            <a:r>
              <a:rPr lang="en-US" sz="1900" dirty="0" err="1"/>
              <a:t>SeniorCitizen</a:t>
            </a:r>
            <a:r>
              <a:rPr lang="en-US" sz="1900" dirty="0"/>
              <a:t> </a:t>
            </a:r>
          </a:p>
          <a:p>
            <a:pPr marL="514350" indent="-514350">
              <a:buFont typeface="+mj-lt"/>
              <a:buAutoNum type="arabicPeriod"/>
            </a:pPr>
            <a:r>
              <a:rPr lang="en-US" sz="1900" dirty="0"/>
              <a:t>Partner </a:t>
            </a:r>
          </a:p>
          <a:p>
            <a:pPr marL="514350" indent="-514350">
              <a:buFont typeface="+mj-lt"/>
              <a:buAutoNum type="arabicPeriod"/>
            </a:pPr>
            <a:r>
              <a:rPr lang="en-US" sz="1900" dirty="0"/>
              <a:t>Dependents</a:t>
            </a:r>
          </a:p>
          <a:p>
            <a:pPr marL="514350" indent="-514350">
              <a:buFont typeface="+mj-lt"/>
              <a:buAutoNum type="arabicPeriod"/>
            </a:pPr>
            <a:r>
              <a:rPr lang="en-US" sz="1900" dirty="0"/>
              <a:t>tenure</a:t>
            </a:r>
          </a:p>
          <a:p>
            <a:pPr marL="514350" indent="-514350">
              <a:buFont typeface="+mj-lt"/>
              <a:buAutoNum type="arabicPeriod"/>
            </a:pPr>
            <a:r>
              <a:rPr lang="en-US" sz="1900" dirty="0" err="1"/>
              <a:t>PhoneService</a:t>
            </a:r>
            <a:r>
              <a:rPr lang="en-US" sz="1900" dirty="0"/>
              <a:t>  </a:t>
            </a:r>
          </a:p>
          <a:p>
            <a:pPr marL="514350" indent="-514350">
              <a:buFont typeface="+mj-lt"/>
              <a:buAutoNum type="arabicPeriod"/>
            </a:pPr>
            <a:r>
              <a:rPr lang="en-US" sz="1900" dirty="0" err="1"/>
              <a:t>InternetService</a:t>
            </a:r>
            <a:r>
              <a:rPr lang="en-US" sz="1900" dirty="0"/>
              <a:t> </a:t>
            </a:r>
          </a:p>
          <a:p>
            <a:pPr marL="514350" indent="-514350">
              <a:buFont typeface="+mj-lt"/>
              <a:buAutoNum type="arabicPeriod"/>
            </a:pPr>
            <a:r>
              <a:rPr lang="en-US" sz="1900" dirty="0" err="1"/>
              <a:t>OnlineSecurity</a:t>
            </a:r>
            <a:r>
              <a:rPr lang="en-US" sz="1900" dirty="0"/>
              <a:t> </a:t>
            </a:r>
          </a:p>
          <a:p>
            <a:pPr marL="514350" indent="-514350">
              <a:buFont typeface="+mj-lt"/>
              <a:buAutoNum type="arabicPeriod"/>
            </a:pPr>
            <a:r>
              <a:rPr lang="en-US" sz="1900" dirty="0" err="1"/>
              <a:t>TechSupport</a:t>
            </a:r>
            <a:r>
              <a:rPr lang="en-US" sz="1900" dirty="0"/>
              <a:t> </a:t>
            </a:r>
          </a:p>
          <a:p>
            <a:pPr marL="514350" indent="-514350">
              <a:buFont typeface="+mj-lt"/>
              <a:buAutoNum type="arabicPeriod"/>
            </a:pPr>
            <a:r>
              <a:rPr lang="en-US" sz="1900" dirty="0" err="1"/>
              <a:t>treamingTV</a:t>
            </a:r>
            <a:r>
              <a:rPr lang="en-US" sz="1900" dirty="0"/>
              <a:t> / </a:t>
            </a:r>
            <a:r>
              <a:rPr lang="en-US" sz="1900" dirty="0" err="1"/>
              <a:t>StreamingMovies</a:t>
            </a:r>
            <a:r>
              <a:rPr lang="en-US" sz="1900" dirty="0"/>
              <a:t>  </a:t>
            </a:r>
          </a:p>
          <a:p>
            <a:pPr marL="514350" indent="-514350">
              <a:buFont typeface="+mj-lt"/>
              <a:buAutoNum type="arabicPeriod"/>
            </a:pPr>
            <a:r>
              <a:rPr lang="en-US" sz="1900" dirty="0"/>
              <a:t>Contract </a:t>
            </a:r>
          </a:p>
          <a:p>
            <a:pPr marL="514350" indent="-514350">
              <a:buFont typeface="+mj-lt"/>
              <a:buAutoNum type="arabicPeriod"/>
            </a:pPr>
            <a:r>
              <a:rPr lang="en-US" sz="1900" dirty="0" err="1"/>
              <a:t>PaperlessBilling</a:t>
            </a:r>
            <a:r>
              <a:rPr lang="en-US" sz="1900" dirty="0"/>
              <a:t>  </a:t>
            </a:r>
          </a:p>
          <a:p>
            <a:pPr marL="514350" indent="-514350">
              <a:buFont typeface="+mj-lt"/>
              <a:buAutoNum type="arabicPeriod"/>
            </a:pPr>
            <a:r>
              <a:rPr lang="en-US" sz="1900" dirty="0" err="1"/>
              <a:t>PaymentMethod</a:t>
            </a:r>
            <a:r>
              <a:rPr lang="en-US" sz="1900" dirty="0"/>
              <a:t> </a:t>
            </a:r>
          </a:p>
          <a:p>
            <a:pPr marL="514350" indent="-514350">
              <a:buFont typeface="+mj-lt"/>
              <a:buAutoNum type="arabicPeriod"/>
            </a:pPr>
            <a:r>
              <a:rPr lang="en-US" sz="1900" dirty="0" err="1"/>
              <a:t>MonthlyCharges</a:t>
            </a:r>
            <a:r>
              <a:rPr lang="en-US" sz="1900" dirty="0"/>
              <a:t>  </a:t>
            </a:r>
          </a:p>
          <a:p>
            <a:pPr marL="514350" indent="-514350">
              <a:buFont typeface="+mj-lt"/>
              <a:buAutoNum type="arabicPeriod"/>
            </a:pPr>
            <a:r>
              <a:rPr lang="en-US" sz="1900" dirty="0" err="1"/>
              <a:t>TotalCharges</a:t>
            </a:r>
            <a:r>
              <a:rPr lang="en-US" sz="1900" dirty="0"/>
              <a:t> </a:t>
            </a:r>
          </a:p>
          <a:p>
            <a:pPr marL="514350" indent="-514350">
              <a:buFont typeface="+mj-lt"/>
              <a:buAutoNum type="arabicPeriod"/>
            </a:pPr>
            <a:r>
              <a:rPr lang="en-US" sz="1900" dirty="0"/>
              <a:t>Churn </a:t>
            </a:r>
          </a:p>
          <a:p>
            <a:endParaRPr lang="en-IN" dirty="0"/>
          </a:p>
        </p:txBody>
      </p:sp>
    </p:spTree>
    <p:extLst>
      <p:ext uri="{BB962C8B-B14F-4D97-AF65-F5344CB8AC3E}">
        <p14:creationId xmlns:p14="http://schemas.microsoft.com/office/powerpoint/2010/main" val="769128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Technologies Used</a:t>
            </a:r>
          </a:p>
        </p:txBody>
      </p:sp>
      <p:sp>
        <p:nvSpPr>
          <p:cNvPr id="3" name="Content Placeholder 2"/>
          <p:cNvSpPr>
            <a:spLocks noGrp="1"/>
          </p:cNvSpPr>
          <p:nvPr>
            <p:ph idx="1"/>
          </p:nvPr>
        </p:nvSpPr>
        <p:spPr>
          <a:xfrm>
            <a:off x="457200" y="1317524"/>
            <a:ext cx="8229600" cy="4808640"/>
          </a:xfrm>
        </p:spPr>
        <p:txBody>
          <a:bodyPr>
            <a:normAutofit/>
          </a:bodyPr>
          <a:lstStyle/>
          <a:p>
            <a:pPr>
              <a:buFont typeface="+mj-lt"/>
              <a:buAutoNum type="arabicPeriod"/>
            </a:pPr>
            <a:r>
              <a:rPr lang="en-US" sz="1800" b="1" dirty="0"/>
              <a:t>Python</a:t>
            </a:r>
          </a:p>
          <a:p>
            <a:r>
              <a:rPr lang="en-US" sz="1800" dirty="0"/>
              <a:t>Python is the primary programming language used for developing the project. </a:t>
            </a:r>
          </a:p>
          <a:p>
            <a:r>
              <a:rPr lang="en-US" sz="1800" dirty="0"/>
              <a:t>It is widely used in Machine Learning, Data Science, and Data Analytics because of its simplicity and powerful libraries</a:t>
            </a:r>
            <a:r>
              <a:rPr lang="en-US" dirty="0"/>
              <a:t>. </a:t>
            </a:r>
          </a:p>
          <a:p>
            <a:pPr marL="0" indent="0">
              <a:buNone/>
            </a:pPr>
            <a:r>
              <a:rPr lang="en-US" sz="1800" b="1" dirty="0"/>
              <a:t>2. Pandas</a:t>
            </a:r>
          </a:p>
          <a:p>
            <a:r>
              <a:rPr lang="en-US" sz="1800" dirty="0"/>
              <a:t>Pandas is used for data manipulation and analysis. </a:t>
            </a:r>
          </a:p>
          <a:p>
            <a:r>
              <a:rPr lang="en-US" sz="1800" dirty="0"/>
              <a:t>It helps in loading, cleaning, filtering, and processing the dataset. </a:t>
            </a:r>
          </a:p>
          <a:p>
            <a:r>
              <a:rPr lang="en-US" sz="1800" dirty="0"/>
              <a:t>Functions such as </a:t>
            </a:r>
            <a:r>
              <a:rPr lang="en-US" sz="1800" dirty="0" err="1"/>
              <a:t>read_csv</a:t>
            </a:r>
            <a:r>
              <a:rPr lang="en-US" sz="1800" dirty="0"/>
              <a:t>(), head(), and </a:t>
            </a:r>
            <a:r>
              <a:rPr lang="en-US" sz="1800" dirty="0" err="1"/>
              <a:t>isnull</a:t>
            </a:r>
            <a:r>
              <a:rPr lang="en-US" sz="1800" dirty="0"/>
              <a:t>() were used during preprocessing. </a:t>
            </a:r>
          </a:p>
          <a:p>
            <a:pPr marL="0" indent="0">
              <a:buNone/>
            </a:pPr>
            <a:r>
              <a:rPr lang="en-US" sz="1800" b="1" dirty="0"/>
              <a:t>3.NumPy</a:t>
            </a:r>
          </a:p>
          <a:p>
            <a:r>
              <a:rPr lang="en-US" sz="1800" dirty="0"/>
              <a:t>NumPy is used for numerical computations and array operations. </a:t>
            </a:r>
          </a:p>
          <a:p>
            <a:r>
              <a:rPr lang="en-US" sz="1800" dirty="0"/>
              <a:t>It provides fast mathematical calculations and supports handling large datasets efficiently. </a:t>
            </a:r>
          </a:p>
          <a:p>
            <a:r>
              <a:rPr lang="en-US" sz="1800" dirty="0"/>
              <a:t>It is commonly used along with Pandas in Machine Learning projects. </a:t>
            </a:r>
          </a:p>
          <a:p>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81A535-FC41-49E0-CE78-C19E2E28133B}"/>
              </a:ext>
            </a:extLst>
          </p:cNvPr>
          <p:cNvSpPr>
            <a:spLocks noGrp="1"/>
          </p:cNvSpPr>
          <p:nvPr>
            <p:ph idx="1"/>
          </p:nvPr>
        </p:nvSpPr>
        <p:spPr>
          <a:xfrm>
            <a:off x="206477" y="115529"/>
            <a:ext cx="8740878" cy="6639232"/>
          </a:xfrm>
        </p:spPr>
        <p:txBody>
          <a:bodyPr>
            <a:noAutofit/>
          </a:bodyPr>
          <a:lstStyle/>
          <a:p>
            <a:pPr marL="0" indent="0">
              <a:buNone/>
            </a:pPr>
            <a:r>
              <a:rPr lang="en-US" sz="1800" b="1" dirty="0"/>
              <a:t>4.Matplotlib</a:t>
            </a:r>
          </a:p>
          <a:p>
            <a:r>
              <a:rPr lang="en-US" sz="1800" dirty="0"/>
              <a:t>Matplotlib is used for data visualization. </a:t>
            </a:r>
          </a:p>
          <a:p>
            <a:r>
              <a:rPr lang="en-US" sz="1800" dirty="0"/>
              <a:t>It helps in creating graphs and plots for better understanding of data patterns. </a:t>
            </a:r>
          </a:p>
          <a:p>
            <a:r>
              <a:rPr lang="en-US" sz="1800" dirty="0"/>
              <a:t>In this project, it was used to display the feature importance graph.</a:t>
            </a:r>
          </a:p>
          <a:p>
            <a:pPr marL="0" indent="0">
              <a:buNone/>
            </a:pPr>
            <a:r>
              <a:rPr lang="en-US" sz="1800" b="1" dirty="0"/>
              <a:t>5.Seaborn</a:t>
            </a:r>
          </a:p>
          <a:p>
            <a:r>
              <a:rPr lang="en-US" sz="1800" dirty="0"/>
              <a:t>Seaborn is a visualization library built on top of Matplotlib. </a:t>
            </a:r>
          </a:p>
          <a:p>
            <a:r>
              <a:rPr lang="en-US" sz="1800" dirty="0"/>
              <a:t>It provides attractive and informative statistical graphs. </a:t>
            </a:r>
          </a:p>
          <a:p>
            <a:r>
              <a:rPr lang="en-US" sz="1800" dirty="0"/>
              <a:t>It was used to create bar plots for feature importance analysis.</a:t>
            </a:r>
          </a:p>
          <a:p>
            <a:pPr marL="0" indent="0">
              <a:buNone/>
            </a:pPr>
            <a:r>
              <a:rPr lang="en-US" sz="1800" b="1" dirty="0"/>
              <a:t>6.Scikit-learn</a:t>
            </a:r>
          </a:p>
          <a:p>
            <a:r>
              <a:rPr lang="en-US" sz="1800" dirty="0"/>
              <a:t>Scikit-learn is the main Machine Learning library used in the project. </a:t>
            </a:r>
          </a:p>
          <a:p>
            <a:r>
              <a:rPr lang="en-US" sz="1800" dirty="0"/>
              <a:t>It provides tools for data splitting, preprocessing, model training, and evaluation. </a:t>
            </a:r>
          </a:p>
          <a:p>
            <a:r>
              <a:rPr lang="en-US" sz="1800" dirty="0"/>
              <a:t>Functions used include: </a:t>
            </a:r>
          </a:p>
          <a:p>
            <a:pPr marL="800100" lvl="1" indent="-342900">
              <a:buFont typeface="+mj-lt"/>
              <a:buAutoNum type="arabicPeriod"/>
            </a:pPr>
            <a:r>
              <a:rPr lang="en-US" sz="1800" dirty="0" err="1"/>
              <a:t>train_test_split</a:t>
            </a:r>
            <a:r>
              <a:rPr lang="en-US" sz="1800" dirty="0"/>
              <a:t>()                     </a:t>
            </a:r>
          </a:p>
          <a:p>
            <a:pPr marL="800100" lvl="1" indent="-342900">
              <a:buFont typeface="+mj-lt"/>
              <a:buAutoNum type="arabicPeriod"/>
            </a:pPr>
            <a:r>
              <a:rPr lang="en-US" sz="1800" dirty="0" err="1"/>
              <a:t>LabelEncoder</a:t>
            </a:r>
            <a:r>
              <a:rPr lang="en-US" sz="1800" dirty="0"/>
              <a:t>()                          </a:t>
            </a:r>
          </a:p>
          <a:p>
            <a:pPr marL="800100" lvl="1" indent="-342900">
              <a:buFont typeface="+mj-lt"/>
              <a:buAutoNum type="arabicPeriod"/>
            </a:pPr>
            <a:r>
              <a:rPr lang="en-US" sz="1800" dirty="0" err="1"/>
              <a:t>RandomForestClassifier</a:t>
            </a:r>
            <a:r>
              <a:rPr lang="en-US" sz="1800" dirty="0"/>
              <a:t>()</a:t>
            </a:r>
          </a:p>
          <a:p>
            <a:pPr marL="800100" lvl="1" indent="-342900">
              <a:buFont typeface="+mj-lt"/>
              <a:buAutoNum type="arabicPeriod"/>
            </a:pPr>
            <a:r>
              <a:rPr lang="en-US" sz="1800" dirty="0" err="1"/>
              <a:t>accuracy_score</a:t>
            </a:r>
            <a:r>
              <a:rPr lang="en-US" sz="1800" dirty="0"/>
              <a:t>()</a:t>
            </a:r>
          </a:p>
          <a:p>
            <a:pPr marL="800100" lvl="1" indent="-342900">
              <a:buFont typeface="+mj-lt"/>
              <a:buAutoNum type="arabicPeriod"/>
            </a:pPr>
            <a:r>
              <a:rPr lang="en-US" sz="1800" dirty="0" err="1"/>
              <a:t>confusion_matrix</a:t>
            </a:r>
            <a:r>
              <a:rPr lang="en-US" sz="1800" dirty="0"/>
              <a:t>()</a:t>
            </a:r>
          </a:p>
          <a:p>
            <a:pPr marL="800100" lvl="1" indent="-342900">
              <a:buFont typeface="+mj-lt"/>
              <a:buAutoNum type="arabicPeriod"/>
            </a:pPr>
            <a:r>
              <a:rPr lang="en-US" sz="1800" dirty="0" err="1"/>
              <a:t>Classification_report</a:t>
            </a:r>
            <a:r>
              <a:rPr lang="en-US" sz="1800" dirty="0"/>
              <a:t>() </a:t>
            </a:r>
          </a:p>
        </p:txBody>
      </p:sp>
    </p:spTree>
    <p:extLst>
      <p:ext uri="{BB962C8B-B14F-4D97-AF65-F5344CB8AC3E}">
        <p14:creationId xmlns:p14="http://schemas.microsoft.com/office/powerpoint/2010/main" val="307802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9E4DC5-5188-AB71-74EC-A1B4AEB3CB4B}"/>
              </a:ext>
            </a:extLst>
          </p:cNvPr>
          <p:cNvSpPr>
            <a:spLocks noGrp="1"/>
          </p:cNvSpPr>
          <p:nvPr>
            <p:ph idx="1"/>
          </p:nvPr>
        </p:nvSpPr>
        <p:spPr>
          <a:xfrm>
            <a:off x="457200" y="353962"/>
            <a:ext cx="8229600" cy="5772202"/>
          </a:xfrm>
        </p:spPr>
        <p:txBody>
          <a:bodyPr>
            <a:normAutofit/>
          </a:bodyPr>
          <a:lstStyle/>
          <a:p>
            <a:pPr marL="0" indent="0">
              <a:buNone/>
            </a:pPr>
            <a:r>
              <a:rPr lang="en-US" sz="1800" b="1" dirty="0"/>
              <a:t>7.Jupyter Notebook</a:t>
            </a:r>
          </a:p>
          <a:p>
            <a:r>
              <a:rPr lang="en-US" sz="1800" dirty="0" err="1"/>
              <a:t>Jupyter</a:t>
            </a:r>
            <a:r>
              <a:rPr lang="en-US" sz="1800" dirty="0"/>
              <a:t> Notebook was used as the development environment for writing and executing Python code. </a:t>
            </a:r>
          </a:p>
          <a:p>
            <a:r>
              <a:rPr lang="en-US" sz="1800" dirty="0"/>
              <a:t>It allows step-by-step execution, visualization, and documentation in a single notebook. </a:t>
            </a:r>
          </a:p>
          <a:p>
            <a:r>
              <a:rPr lang="en-US" sz="1800" dirty="0"/>
              <a:t>It is widely used for Data Science and Machine Learning projects. </a:t>
            </a:r>
          </a:p>
          <a:p>
            <a:pPr marL="0" indent="0">
              <a:buNone/>
            </a:pPr>
            <a:r>
              <a:rPr lang="en-US" sz="1800" b="1" dirty="0"/>
              <a:t>8.Machine Learning Algorithm – Random Forest</a:t>
            </a:r>
          </a:p>
          <a:p>
            <a:r>
              <a:rPr lang="en-US" sz="1800" dirty="0"/>
              <a:t>Random Forest is a supervised Machine Learning algorithm used for classification tasks. </a:t>
            </a:r>
          </a:p>
          <a:p>
            <a:r>
              <a:rPr lang="en-US" sz="1800" dirty="0"/>
              <a:t>It works by combining multiple decision trees to improve prediction accuracy. </a:t>
            </a:r>
          </a:p>
          <a:p>
            <a:r>
              <a:rPr lang="en-US" sz="1800" dirty="0"/>
              <a:t>It handles large datasets effectively and reduces overfitting. </a:t>
            </a:r>
          </a:p>
          <a:p>
            <a:r>
              <a:rPr lang="en-US" sz="1800" dirty="0"/>
              <a:t>In this project, it achieved approximately 79% prediction accuracy. </a:t>
            </a:r>
          </a:p>
          <a:p>
            <a:pPr marL="0" indent="0">
              <a:buNone/>
            </a:pPr>
            <a:endParaRPr lang="en-US" sz="1800" dirty="0"/>
          </a:p>
          <a:p>
            <a:pPr marL="0" indent="0">
              <a:buNone/>
            </a:pPr>
            <a:r>
              <a:rPr lang="en-US" sz="1800" dirty="0"/>
              <a:t> </a:t>
            </a:r>
          </a:p>
          <a:p>
            <a:endParaRPr lang="en-IN" sz="1800" dirty="0"/>
          </a:p>
        </p:txBody>
      </p:sp>
    </p:spTree>
    <p:extLst>
      <p:ext uri="{BB962C8B-B14F-4D97-AF65-F5344CB8AC3E}">
        <p14:creationId xmlns:p14="http://schemas.microsoft.com/office/powerpoint/2010/main" val="2855617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Preprocessing</a:t>
            </a:r>
          </a:p>
        </p:txBody>
      </p:sp>
      <p:sp>
        <p:nvSpPr>
          <p:cNvPr id="3" name="Content Placeholder 2"/>
          <p:cNvSpPr>
            <a:spLocks noGrp="1"/>
          </p:cNvSpPr>
          <p:nvPr>
            <p:ph idx="1"/>
          </p:nvPr>
        </p:nvSpPr>
        <p:spPr>
          <a:xfrm>
            <a:off x="457200" y="1417638"/>
            <a:ext cx="8470490" cy="5678129"/>
          </a:xfrm>
        </p:spPr>
        <p:txBody>
          <a:bodyPr>
            <a:noAutofit/>
          </a:bodyPr>
          <a:lstStyle/>
          <a:p>
            <a:pPr marL="0" indent="0">
              <a:buNone/>
            </a:pPr>
            <a:r>
              <a:rPr lang="en-IN" sz="1800" b="1" dirty="0"/>
              <a:t>1.Data Preprocessing</a:t>
            </a:r>
            <a:endParaRPr lang="en-US" sz="1800" dirty="0"/>
          </a:p>
          <a:p>
            <a:r>
              <a:rPr lang="en-US" sz="1800" dirty="0"/>
              <a:t>Data preprocessing is one of the most important steps in Machine Learning because raw data often contains missing values, inconsistent formats, and categorical information that cannot be directly used by ML algorithms. </a:t>
            </a:r>
          </a:p>
          <a:p>
            <a:r>
              <a:rPr lang="en-US" sz="1800" dirty="0"/>
              <a:t>The main objective of preprocessing is to clean and transform the dataset into a suitable format for model training and prediction. </a:t>
            </a:r>
          </a:p>
          <a:p>
            <a:pPr marL="0" indent="0">
              <a:buNone/>
            </a:pPr>
            <a:r>
              <a:rPr lang="en-US" sz="1800" b="1" dirty="0"/>
              <a:t>2.Dataset Loading</a:t>
            </a:r>
          </a:p>
          <a:p>
            <a:r>
              <a:rPr lang="en-US" sz="1800" dirty="0"/>
              <a:t>The Telco Customer Churn dataset was loaded into the </a:t>
            </a:r>
            <a:r>
              <a:rPr lang="en-US" sz="1800" dirty="0" err="1"/>
              <a:t>Jupyter</a:t>
            </a:r>
            <a:r>
              <a:rPr lang="en-US" sz="1800" dirty="0"/>
              <a:t> Notebook environment using the Pandas library. </a:t>
            </a:r>
          </a:p>
          <a:p>
            <a:r>
              <a:rPr lang="en-US" sz="1800" dirty="0"/>
              <a:t>The dataset was imported using the </a:t>
            </a:r>
            <a:r>
              <a:rPr lang="en-US" sz="1800" dirty="0" err="1"/>
              <a:t>read_csv</a:t>
            </a:r>
            <a:r>
              <a:rPr lang="en-US" sz="1800" dirty="0"/>
              <a:t>() function. </a:t>
            </a:r>
          </a:p>
          <a:p>
            <a:pPr marL="0" indent="0">
              <a:buNone/>
            </a:pPr>
            <a:r>
              <a:rPr lang="en-US" sz="1800" b="1" dirty="0"/>
              <a:t>3.Checking Missing Values</a:t>
            </a:r>
          </a:p>
          <a:p>
            <a:r>
              <a:rPr lang="en-US" sz="1800" dirty="0"/>
              <a:t>The dataset was examined for missing or null values using the </a:t>
            </a:r>
            <a:r>
              <a:rPr lang="en-US" sz="1800" dirty="0" err="1"/>
              <a:t>isnull</a:t>
            </a:r>
            <a:r>
              <a:rPr lang="en-US" sz="1800" dirty="0"/>
              <a:t>().sum() function. </a:t>
            </a:r>
          </a:p>
          <a:p>
            <a:r>
              <a:rPr lang="en-US" sz="1800" dirty="0"/>
              <a:t>It was found that the </a:t>
            </a:r>
            <a:r>
              <a:rPr lang="en-US" sz="1800" dirty="0" err="1"/>
              <a:t>TotalCharges</a:t>
            </a:r>
            <a:r>
              <a:rPr lang="en-US" sz="1800" dirty="0"/>
              <a:t> column contained missing values. </a:t>
            </a:r>
          </a:p>
          <a:p>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E3A68D4-D524-5C6A-2FDD-EAC2E37AB613}"/>
              </a:ext>
            </a:extLst>
          </p:cNvPr>
          <p:cNvPicPr>
            <a:picLocks noGrp="1" noChangeAspect="1"/>
          </p:cNvPicPr>
          <p:nvPr>
            <p:ph idx="1"/>
          </p:nvPr>
        </p:nvPicPr>
        <p:blipFill>
          <a:blip r:embed="rId2"/>
          <a:srcRect l="24074" t="10954" r="35679" b="28099"/>
          <a:stretch>
            <a:fillRect/>
          </a:stretch>
        </p:blipFill>
        <p:spPr>
          <a:xfrm>
            <a:off x="566420" y="899020"/>
            <a:ext cx="3848100" cy="3612021"/>
          </a:xfrm>
          <a:prstGeom prst="rect">
            <a:avLst/>
          </a:prstGeom>
        </p:spPr>
      </p:pic>
      <p:pic>
        <p:nvPicPr>
          <p:cNvPr id="7" name="Picture 6">
            <a:extLst>
              <a:ext uri="{FF2B5EF4-FFF2-40B4-BE49-F238E27FC236}">
                <a16:creationId xmlns:a16="http://schemas.microsoft.com/office/drawing/2014/main" id="{CA6F4B6E-627A-D083-D598-8D6CAEFE65F9}"/>
              </a:ext>
            </a:extLst>
          </p:cNvPr>
          <p:cNvPicPr>
            <a:picLocks noChangeAspect="1"/>
          </p:cNvPicPr>
          <p:nvPr/>
        </p:nvPicPr>
        <p:blipFill>
          <a:blip r:embed="rId3"/>
          <a:srcRect l="14889" t="7232" r="43556" b="30864"/>
          <a:stretch>
            <a:fillRect/>
          </a:stretch>
        </p:blipFill>
        <p:spPr>
          <a:xfrm>
            <a:off x="3446780" y="655180"/>
            <a:ext cx="3891280" cy="3651977"/>
          </a:xfrm>
          <a:prstGeom prst="rect">
            <a:avLst/>
          </a:prstGeom>
        </p:spPr>
      </p:pic>
    </p:spTree>
    <p:extLst>
      <p:ext uri="{BB962C8B-B14F-4D97-AF65-F5344CB8AC3E}">
        <p14:creationId xmlns:p14="http://schemas.microsoft.com/office/powerpoint/2010/main" val="2490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667829-D1E8-97F4-E0D8-53D4E4B290CF}"/>
              </a:ext>
            </a:extLst>
          </p:cNvPr>
          <p:cNvSpPr>
            <a:spLocks noGrp="1"/>
          </p:cNvSpPr>
          <p:nvPr>
            <p:ph idx="1"/>
          </p:nvPr>
        </p:nvSpPr>
        <p:spPr>
          <a:xfrm>
            <a:off x="457200" y="213852"/>
            <a:ext cx="8229600" cy="6501580"/>
          </a:xfrm>
        </p:spPr>
        <p:txBody>
          <a:bodyPr>
            <a:noAutofit/>
          </a:bodyPr>
          <a:lstStyle/>
          <a:p>
            <a:endParaRPr lang="en-US" sz="1800" b="1" dirty="0"/>
          </a:p>
          <a:p>
            <a:pPr marL="0" indent="0">
              <a:buNone/>
            </a:pPr>
            <a:r>
              <a:rPr lang="en-US" sz="1800" b="1" dirty="0"/>
              <a:t>4.Handling Missing Values</a:t>
            </a:r>
          </a:p>
          <a:p>
            <a:r>
              <a:rPr lang="en-US" sz="1800" dirty="0"/>
              <a:t>The </a:t>
            </a:r>
            <a:r>
              <a:rPr lang="en-US" sz="1800" dirty="0" err="1"/>
              <a:t>TotalCharges</a:t>
            </a:r>
            <a:r>
              <a:rPr lang="en-US" sz="1800" dirty="0"/>
              <a:t> column was converted into numeric format using </a:t>
            </a:r>
            <a:r>
              <a:rPr lang="en-US" sz="1800" dirty="0" err="1"/>
              <a:t>pd.to_numeric</a:t>
            </a:r>
            <a:r>
              <a:rPr lang="en-US" sz="1800" dirty="0"/>
              <a:t>(). </a:t>
            </a:r>
          </a:p>
          <a:p>
            <a:r>
              <a:rPr lang="en-US" sz="1800" dirty="0"/>
              <a:t>Missing values were replaced with the median value of the column to avoid data loss and maintain dataset consistency. </a:t>
            </a:r>
          </a:p>
          <a:p>
            <a:r>
              <a:rPr lang="en-US" sz="1800" dirty="0"/>
              <a:t>Median was used because it is less affected by extreme values. </a:t>
            </a:r>
          </a:p>
          <a:p>
            <a:pPr marL="0" indent="0">
              <a:buNone/>
            </a:pPr>
            <a:r>
              <a:rPr lang="en-US" sz="1800" b="1" dirty="0"/>
              <a:t>5.Removing Unnecessary Columns</a:t>
            </a:r>
          </a:p>
          <a:p>
            <a:r>
              <a:rPr lang="en-US" sz="1800" dirty="0"/>
              <a:t>The </a:t>
            </a:r>
            <a:r>
              <a:rPr lang="en-US" sz="1800" dirty="0" err="1"/>
              <a:t>customerID</a:t>
            </a:r>
            <a:r>
              <a:rPr lang="en-US" sz="1800" dirty="0"/>
              <a:t> column was removed from the dataset because it does not contribute to customer churn prediction. </a:t>
            </a:r>
          </a:p>
          <a:p>
            <a:r>
              <a:rPr lang="en-US" sz="1800" dirty="0"/>
              <a:t>Removing irrelevant features helps improve model performance and reduces complexity. </a:t>
            </a:r>
          </a:p>
          <a:p>
            <a:pPr marL="0" indent="0">
              <a:buNone/>
            </a:pPr>
            <a:r>
              <a:rPr lang="en-US" sz="1800" b="1" dirty="0"/>
              <a:t>6.Encoding Categorical Data</a:t>
            </a:r>
          </a:p>
          <a:p>
            <a:r>
              <a:rPr lang="en-US" sz="1800" dirty="0"/>
              <a:t>Many columns in the dataset contained text values such as: </a:t>
            </a:r>
          </a:p>
          <a:p>
            <a:pPr lvl="1"/>
            <a:r>
              <a:rPr lang="en-US" sz="1800" dirty="0"/>
              <a:t>Male/Female </a:t>
            </a:r>
          </a:p>
          <a:p>
            <a:pPr lvl="1"/>
            <a:r>
              <a:rPr lang="en-US" sz="1800" dirty="0"/>
              <a:t>Yes/No </a:t>
            </a:r>
          </a:p>
          <a:p>
            <a:pPr lvl="1"/>
            <a:r>
              <a:rPr lang="en-US" sz="1800" dirty="0"/>
              <a:t>Contract types </a:t>
            </a:r>
          </a:p>
          <a:p>
            <a:r>
              <a:rPr lang="en-US" sz="1800" dirty="0"/>
              <a:t>Machine Learning algorithms cannot process text directly, so Label Encoding was applied. </a:t>
            </a:r>
          </a:p>
          <a:p>
            <a:endParaRPr lang="en-IN" sz="1800" dirty="0"/>
          </a:p>
        </p:txBody>
      </p:sp>
    </p:spTree>
    <p:extLst>
      <p:ext uri="{BB962C8B-B14F-4D97-AF65-F5344CB8AC3E}">
        <p14:creationId xmlns:p14="http://schemas.microsoft.com/office/powerpoint/2010/main" val="3643565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778D971-CA49-2BF7-B843-AEA8B9C73D9D}"/>
              </a:ext>
            </a:extLst>
          </p:cNvPr>
          <p:cNvSpPr>
            <a:spLocks noGrp="1"/>
          </p:cNvSpPr>
          <p:nvPr>
            <p:ph idx="1"/>
          </p:nvPr>
        </p:nvSpPr>
        <p:spPr>
          <a:xfrm>
            <a:off x="457200" y="174625"/>
            <a:ext cx="8229600" cy="6683375"/>
          </a:xfrm>
        </p:spPr>
        <p:txBody>
          <a:bodyPr>
            <a:normAutofit fontScale="92500" lnSpcReduction="10000"/>
          </a:bodyPr>
          <a:lstStyle/>
          <a:p>
            <a:r>
              <a:rPr lang="en-US" sz="1800" dirty="0"/>
              <a:t>Label Encoding converted categorical values into numerical format. </a:t>
            </a:r>
          </a:p>
          <a:p>
            <a:r>
              <a:rPr lang="en-US" sz="1800" dirty="0"/>
              <a:t>Example:</a:t>
            </a:r>
          </a:p>
          <a:p>
            <a:r>
              <a:rPr lang="en-US" sz="1800" dirty="0"/>
              <a:t>Male → 1</a:t>
            </a:r>
            <a:br>
              <a:rPr lang="en-US" sz="1800" dirty="0"/>
            </a:br>
            <a:r>
              <a:rPr lang="en-US" sz="1800" dirty="0"/>
              <a:t>Female → 0</a:t>
            </a:r>
            <a:br>
              <a:rPr lang="en-US" sz="1800" dirty="0"/>
            </a:br>
            <a:r>
              <a:rPr lang="en-US" sz="1800" dirty="0"/>
              <a:t>Yes → 1</a:t>
            </a:r>
            <a:br>
              <a:rPr lang="en-US" sz="1800" dirty="0"/>
            </a:br>
            <a:r>
              <a:rPr lang="en-US" sz="1800" dirty="0"/>
              <a:t>No → 0</a:t>
            </a:r>
            <a:endParaRPr lang="en-US" sz="1800" b="1" dirty="0"/>
          </a:p>
          <a:p>
            <a:pPr marL="0" indent="0">
              <a:buNone/>
            </a:pPr>
            <a:r>
              <a:rPr lang="en-US" sz="1800" b="1" dirty="0"/>
              <a:t>7.Feature and Target Separation</a:t>
            </a:r>
          </a:p>
          <a:p>
            <a:r>
              <a:rPr lang="en-US" sz="1800" dirty="0"/>
              <a:t>The dataset was divided into: </a:t>
            </a:r>
          </a:p>
          <a:p>
            <a:pPr lvl="1"/>
            <a:r>
              <a:rPr lang="en-US" sz="1800" b="1" dirty="0"/>
              <a:t>Features (X)</a:t>
            </a:r>
            <a:r>
              <a:rPr lang="en-US" sz="1800" dirty="0"/>
              <a:t> → Input variables used for prediction </a:t>
            </a:r>
          </a:p>
          <a:p>
            <a:pPr lvl="1"/>
            <a:r>
              <a:rPr lang="en-US" sz="1800" b="1" dirty="0"/>
              <a:t>Target (y)</a:t>
            </a:r>
            <a:r>
              <a:rPr lang="en-US" sz="1800" dirty="0"/>
              <a:t> → Output variable (Churn) </a:t>
            </a:r>
          </a:p>
          <a:p>
            <a:r>
              <a:rPr lang="en-US" sz="1800" dirty="0"/>
              <a:t>This separation is necessary for supervised Machine Learning.</a:t>
            </a:r>
          </a:p>
          <a:p>
            <a:pPr marL="0" indent="0">
              <a:buNone/>
            </a:pPr>
            <a:r>
              <a:rPr lang="en-US" sz="1800" b="1" dirty="0"/>
              <a:t>8.Train-Test Split</a:t>
            </a:r>
          </a:p>
          <a:p>
            <a:r>
              <a:rPr lang="en-US" sz="1800" dirty="0"/>
              <a:t>The dataset was divided into training and testing sets using </a:t>
            </a:r>
            <a:r>
              <a:rPr lang="en-US" sz="1800" dirty="0" err="1"/>
              <a:t>train_test_split</a:t>
            </a:r>
            <a:r>
              <a:rPr lang="en-US" sz="1800" dirty="0"/>
              <a:t>(). </a:t>
            </a:r>
          </a:p>
          <a:p>
            <a:r>
              <a:rPr lang="en-US" sz="1800" dirty="0"/>
              <a:t>80% of the data was used for training the model. </a:t>
            </a:r>
          </a:p>
          <a:p>
            <a:r>
              <a:rPr lang="en-US" sz="1800" dirty="0"/>
              <a:t>20% of the data was used for testing and evaluation. </a:t>
            </a:r>
          </a:p>
          <a:p>
            <a:r>
              <a:rPr lang="en-US" sz="1800" dirty="0"/>
              <a:t>This helps evaluate how well the model performs on unseen data. </a:t>
            </a:r>
          </a:p>
          <a:p>
            <a:pPr marL="0" indent="0">
              <a:buNone/>
            </a:pPr>
            <a:r>
              <a:rPr lang="en-US" sz="1800" b="1" dirty="0"/>
              <a:t>9.Importance of Data Preprocessing</a:t>
            </a:r>
          </a:p>
          <a:p>
            <a:r>
              <a:rPr lang="en-US" sz="1800" dirty="0"/>
              <a:t>Improves data quality and consistency </a:t>
            </a:r>
          </a:p>
          <a:p>
            <a:r>
              <a:rPr lang="en-US" sz="1800" dirty="0"/>
              <a:t>Reduces errors in model training </a:t>
            </a:r>
          </a:p>
          <a:p>
            <a:r>
              <a:rPr lang="en-US" sz="1800" dirty="0"/>
              <a:t>Enhances prediction accuracy </a:t>
            </a:r>
          </a:p>
          <a:p>
            <a:r>
              <a:rPr lang="en-US" sz="1800" dirty="0"/>
              <a:t>Helps Machine Learning algorithms work efficiently </a:t>
            </a:r>
          </a:p>
          <a:p>
            <a:r>
              <a:rPr lang="en-US" sz="1800" dirty="0"/>
              <a:t>Increases reliability of the final model </a:t>
            </a:r>
          </a:p>
          <a:p>
            <a:endParaRPr lang="en-IN" sz="1800" dirty="0"/>
          </a:p>
        </p:txBody>
      </p:sp>
    </p:spTree>
    <p:extLst>
      <p:ext uri="{BB962C8B-B14F-4D97-AF65-F5344CB8AC3E}">
        <p14:creationId xmlns:p14="http://schemas.microsoft.com/office/powerpoint/2010/main" val="3428969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Machine Learning Model</a:t>
            </a:r>
          </a:p>
        </p:txBody>
      </p:sp>
      <p:sp>
        <p:nvSpPr>
          <p:cNvPr id="3" name="Content Placeholder 2"/>
          <p:cNvSpPr>
            <a:spLocks noGrp="1"/>
          </p:cNvSpPr>
          <p:nvPr>
            <p:ph idx="1"/>
          </p:nvPr>
        </p:nvSpPr>
        <p:spPr/>
        <p:txBody>
          <a:bodyPr>
            <a:noAutofit/>
          </a:bodyPr>
          <a:lstStyle/>
          <a:p>
            <a:pPr marL="0" indent="0">
              <a:buNone/>
            </a:pPr>
            <a:r>
              <a:rPr lang="en-US" sz="1800" b="1" dirty="0"/>
              <a:t>1.Machine Learning Model</a:t>
            </a:r>
          </a:p>
          <a:p>
            <a:r>
              <a:rPr lang="en-US" sz="1800" dirty="0"/>
              <a:t>In this project, the Random Forest Classifier algorithm was used to predict customer churn. </a:t>
            </a:r>
          </a:p>
          <a:p>
            <a:r>
              <a:rPr lang="en-US" sz="1800" dirty="0"/>
              <a:t>Random Forest is a supervised Machine Learning algorithm mainly used for classification and prediction tasks. </a:t>
            </a:r>
          </a:p>
          <a:p>
            <a:r>
              <a:rPr lang="en-US" sz="1800" dirty="0"/>
              <a:t>It is one of the most popular and powerful algorithms because it provides high accuracy and handles large datasets efficiently. </a:t>
            </a:r>
          </a:p>
          <a:p>
            <a:pPr marL="0" indent="0">
              <a:buNone/>
            </a:pPr>
            <a:r>
              <a:rPr lang="en-US" sz="1800" b="1" dirty="0"/>
              <a:t>2.Why Random Forest Was Chosen</a:t>
            </a:r>
          </a:p>
          <a:p>
            <a:r>
              <a:rPr lang="en-US" sz="1800" dirty="0"/>
              <a:t>Random Forest gives better prediction accuracy compared to many basic algorithms. </a:t>
            </a:r>
          </a:p>
          <a:p>
            <a:r>
              <a:rPr lang="en-US" sz="1800" dirty="0"/>
              <a:t>It can handle both numerical and categorical data effectively. </a:t>
            </a:r>
          </a:p>
          <a:p>
            <a:r>
              <a:rPr lang="en-US" sz="1800" dirty="0"/>
              <a:t>It reduces the problem of overfitting by combining multiple decision trees. </a:t>
            </a:r>
          </a:p>
          <a:p>
            <a:r>
              <a:rPr lang="en-US" sz="1800" dirty="0"/>
              <a:t>It works well with complex datasets and provides reliable results. </a:t>
            </a:r>
          </a:p>
          <a:p>
            <a:r>
              <a:rPr lang="en-US" sz="1800" dirty="0"/>
              <a:t>It is easy to implement and suitable for customer churn prediction problems. </a:t>
            </a:r>
          </a:p>
          <a:p>
            <a:pPr marL="0" indent="0">
              <a:buNone/>
            </a:pPr>
            <a:br>
              <a:rPr lang="en-US" sz="1800" dirty="0"/>
            </a:br>
            <a:endParaRPr lang="en-US" sz="1800" dirty="0"/>
          </a:p>
          <a:p>
            <a:endParaRPr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439533-DF77-AF58-9377-64DD7CBA310D}"/>
              </a:ext>
            </a:extLst>
          </p:cNvPr>
          <p:cNvSpPr>
            <a:spLocks noGrp="1"/>
          </p:cNvSpPr>
          <p:nvPr>
            <p:ph idx="1"/>
          </p:nvPr>
        </p:nvSpPr>
        <p:spPr>
          <a:xfrm>
            <a:off x="363794" y="457200"/>
            <a:ext cx="8323006" cy="6245942"/>
          </a:xfrm>
        </p:spPr>
        <p:txBody>
          <a:bodyPr>
            <a:noAutofit/>
          </a:bodyPr>
          <a:lstStyle/>
          <a:p>
            <a:pPr marL="0" indent="0">
              <a:buNone/>
            </a:pPr>
            <a:r>
              <a:rPr lang="en-US" sz="1800" b="1" dirty="0"/>
              <a:t>3.How Random Forest Works</a:t>
            </a:r>
          </a:p>
          <a:p>
            <a:r>
              <a:rPr lang="en-US" sz="1800" dirty="0"/>
              <a:t>Random Forest creates multiple decision trees during training. </a:t>
            </a:r>
          </a:p>
          <a:p>
            <a:r>
              <a:rPr lang="en-US" sz="1800" dirty="0"/>
              <a:t>Each tree analyzes different parts of the dataset. </a:t>
            </a:r>
          </a:p>
          <a:p>
            <a:r>
              <a:rPr lang="en-US" sz="1800" dirty="0"/>
              <a:t>Every tree makes its own prediction. </a:t>
            </a:r>
          </a:p>
          <a:p>
            <a:r>
              <a:rPr lang="en-US" sz="1800" dirty="0"/>
              <a:t>The final prediction is determined by majority voting among all trees. </a:t>
            </a:r>
          </a:p>
          <a:p>
            <a:r>
              <a:rPr lang="en-US" sz="1800" dirty="0"/>
              <a:t>This improves prediction accuracy and model stability. </a:t>
            </a:r>
          </a:p>
          <a:p>
            <a:pPr marL="0" indent="0">
              <a:buNone/>
            </a:pPr>
            <a:r>
              <a:rPr lang="en-US" sz="1800" b="1" dirty="0"/>
              <a:t>4.Model Parameters Used</a:t>
            </a:r>
          </a:p>
          <a:p>
            <a:r>
              <a:rPr lang="en-US" sz="1800" dirty="0" err="1"/>
              <a:t>n_estimators</a:t>
            </a:r>
            <a:r>
              <a:rPr lang="en-US" sz="1800" dirty="0"/>
              <a:t> = 100 </a:t>
            </a:r>
          </a:p>
          <a:p>
            <a:pPr lvl="1"/>
            <a:r>
              <a:rPr lang="en-US" sz="1800" dirty="0"/>
              <a:t>Indicates the number of decision trees created in the forest. </a:t>
            </a:r>
          </a:p>
          <a:p>
            <a:r>
              <a:rPr lang="en-US" sz="1800" dirty="0" err="1"/>
              <a:t>random_state</a:t>
            </a:r>
            <a:r>
              <a:rPr lang="en-US" sz="1800" dirty="0"/>
              <a:t> = 42 </a:t>
            </a:r>
          </a:p>
          <a:p>
            <a:pPr lvl="1"/>
            <a:r>
              <a:rPr lang="en-US" sz="1800" dirty="0"/>
              <a:t>Ensures consistent and reproducible results during execution.</a:t>
            </a:r>
          </a:p>
          <a:p>
            <a:endParaRPr lang="en-IN" sz="1800" dirty="0"/>
          </a:p>
        </p:txBody>
      </p:sp>
    </p:spTree>
    <p:extLst>
      <p:ext uri="{BB962C8B-B14F-4D97-AF65-F5344CB8AC3E}">
        <p14:creationId xmlns:p14="http://schemas.microsoft.com/office/powerpoint/2010/main" val="4107112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965830-D470-0915-A5E2-65063B1FBF8B}"/>
              </a:ext>
            </a:extLst>
          </p:cNvPr>
          <p:cNvSpPr>
            <a:spLocks noGrp="1"/>
          </p:cNvSpPr>
          <p:nvPr>
            <p:ph idx="1"/>
          </p:nvPr>
        </p:nvSpPr>
        <p:spPr>
          <a:xfrm>
            <a:off x="355600" y="157480"/>
            <a:ext cx="8229600" cy="6558280"/>
          </a:xfrm>
        </p:spPr>
        <p:txBody>
          <a:bodyPr/>
          <a:lstStyle/>
          <a:p>
            <a:pPr marL="0" indent="0">
              <a:buNone/>
            </a:pPr>
            <a:r>
              <a:rPr lang="en-US" sz="1800" b="1" dirty="0"/>
              <a:t>5.Model Training Process</a:t>
            </a:r>
          </a:p>
          <a:p>
            <a:r>
              <a:rPr lang="en-US" sz="1800" dirty="0"/>
              <a:t>The cleaned and preprocessed dataset was divided into: </a:t>
            </a:r>
          </a:p>
          <a:p>
            <a:pPr lvl="1"/>
            <a:r>
              <a:rPr lang="en-US" sz="1800" dirty="0"/>
              <a:t>Training Data (80%) </a:t>
            </a:r>
          </a:p>
          <a:p>
            <a:pPr lvl="1"/>
            <a:r>
              <a:rPr lang="en-US" sz="1800" dirty="0"/>
              <a:t>Testing Data (20%) </a:t>
            </a:r>
          </a:p>
          <a:p>
            <a:r>
              <a:rPr lang="en-US" sz="1800" dirty="0"/>
              <a:t>The training dataset was used to train the Random Forest model. </a:t>
            </a:r>
          </a:p>
          <a:p>
            <a:r>
              <a:rPr lang="en-US" sz="1800" dirty="0"/>
              <a:t>The testing dataset was used to evaluate the performance of the model.</a:t>
            </a:r>
          </a:p>
          <a:p>
            <a:endParaRPr lang="en-IN" dirty="0"/>
          </a:p>
        </p:txBody>
      </p:sp>
      <p:pic>
        <p:nvPicPr>
          <p:cNvPr id="5" name="Picture 4">
            <a:extLst>
              <a:ext uri="{FF2B5EF4-FFF2-40B4-BE49-F238E27FC236}">
                <a16:creationId xmlns:a16="http://schemas.microsoft.com/office/drawing/2014/main" id="{BC0D9217-3CDA-6281-DBAF-7FE9822A3422}"/>
              </a:ext>
            </a:extLst>
          </p:cNvPr>
          <p:cNvPicPr>
            <a:picLocks noChangeAspect="1"/>
          </p:cNvPicPr>
          <p:nvPr/>
        </p:nvPicPr>
        <p:blipFill>
          <a:blip r:embed="rId2"/>
          <a:srcRect l="26221" t="23380" r="35223" b="32908"/>
          <a:stretch>
            <a:fillRect/>
          </a:stretch>
        </p:blipFill>
        <p:spPr>
          <a:xfrm>
            <a:off x="741680" y="2197888"/>
            <a:ext cx="4368800" cy="3461232"/>
          </a:xfrm>
          <a:prstGeom prst="rect">
            <a:avLst/>
          </a:prstGeom>
        </p:spPr>
      </p:pic>
    </p:spTree>
    <p:extLst>
      <p:ext uri="{BB962C8B-B14F-4D97-AF65-F5344CB8AC3E}">
        <p14:creationId xmlns:p14="http://schemas.microsoft.com/office/powerpoint/2010/main" val="3822299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5C474-0331-8BA6-D16B-16B8C0AC9192}"/>
              </a:ext>
            </a:extLst>
          </p:cNvPr>
          <p:cNvSpPr>
            <a:spLocks noGrp="1"/>
          </p:cNvSpPr>
          <p:nvPr>
            <p:ph idx="1"/>
          </p:nvPr>
        </p:nvSpPr>
        <p:spPr>
          <a:xfrm>
            <a:off x="383458" y="314632"/>
            <a:ext cx="8303342" cy="5811531"/>
          </a:xfrm>
        </p:spPr>
        <p:txBody>
          <a:bodyPr>
            <a:noAutofit/>
          </a:bodyPr>
          <a:lstStyle/>
          <a:p>
            <a:pPr marL="0" indent="0">
              <a:buNone/>
            </a:pPr>
            <a:r>
              <a:rPr lang="en-US" sz="1800" b="1" dirty="0"/>
              <a:t>6.Prediction Process</a:t>
            </a:r>
          </a:p>
          <a:p>
            <a:r>
              <a:rPr lang="en-US" sz="1800" dirty="0"/>
              <a:t>After training, the model predicts whether a customer will: </a:t>
            </a:r>
          </a:p>
          <a:p>
            <a:pPr lvl="1"/>
            <a:r>
              <a:rPr lang="en-US" sz="1800" dirty="0"/>
              <a:t>Stay with the company </a:t>
            </a:r>
          </a:p>
          <a:p>
            <a:pPr lvl="1"/>
            <a:r>
              <a:rPr lang="en-US" sz="1800" dirty="0"/>
              <a:t>Leave the company (Churn) </a:t>
            </a:r>
          </a:p>
          <a:p>
            <a:r>
              <a:rPr lang="en-US" sz="1800" dirty="0"/>
              <a:t>Predictions are based on customer behavior, service usage, charges, and contract details. </a:t>
            </a:r>
          </a:p>
          <a:p>
            <a:pPr marL="0" indent="0">
              <a:buNone/>
            </a:pPr>
            <a:r>
              <a:rPr lang="en-US" sz="1800" b="1" dirty="0"/>
              <a:t>7.Model Evaluation</a:t>
            </a:r>
          </a:p>
          <a:p>
            <a:r>
              <a:rPr lang="en-US" sz="1800" dirty="0"/>
              <a:t>The model performance was evaluated using: </a:t>
            </a:r>
          </a:p>
          <a:p>
            <a:pPr lvl="1"/>
            <a:r>
              <a:rPr lang="en-US" sz="1800" dirty="0"/>
              <a:t>Accuracy Score </a:t>
            </a:r>
          </a:p>
          <a:p>
            <a:pPr lvl="1"/>
            <a:r>
              <a:rPr lang="en-US" sz="1800" dirty="0"/>
              <a:t>Confusion Matrix </a:t>
            </a:r>
          </a:p>
          <a:p>
            <a:pPr lvl="1"/>
            <a:r>
              <a:rPr lang="en-US" sz="1800" dirty="0"/>
              <a:t>Classification Report </a:t>
            </a:r>
          </a:p>
          <a:p>
            <a:r>
              <a:rPr lang="en-US" sz="1800" dirty="0"/>
              <a:t>The Random Forest model achieved approximately </a:t>
            </a:r>
            <a:r>
              <a:rPr lang="en-US" sz="1800" b="1" dirty="0"/>
              <a:t>79.56% accuracy</a:t>
            </a:r>
            <a:r>
              <a:rPr lang="en-US" sz="1800" dirty="0"/>
              <a:t>, indicating good prediction performance.</a:t>
            </a:r>
          </a:p>
          <a:p>
            <a:endParaRPr lang="en-IN" sz="1800" dirty="0"/>
          </a:p>
        </p:txBody>
      </p:sp>
    </p:spTree>
    <p:extLst>
      <p:ext uri="{BB962C8B-B14F-4D97-AF65-F5344CB8AC3E}">
        <p14:creationId xmlns:p14="http://schemas.microsoft.com/office/powerpoint/2010/main" val="1321172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46239"/>
          </a:xfrm>
        </p:spPr>
        <p:txBody>
          <a:bodyPr/>
          <a:lstStyle/>
          <a:p>
            <a:r>
              <a:rPr dirty="0"/>
              <a:t>Model Evaluation</a:t>
            </a:r>
          </a:p>
        </p:txBody>
      </p:sp>
      <p:sp>
        <p:nvSpPr>
          <p:cNvPr id="3" name="Content Placeholder 2"/>
          <p:cNvSpPr>
            <a:spLocks noGrp="1"/>
          </p:cNvSpPr>
          <p:nvPr>
            <p:ph idx="1"/>
          </p:nvPr>
        </p:nvSpPr>
        <p:spPr>
          <a:xfrm>
            <a:off x="457200" y="1229032"/>
            <a:ext cx="8229600" cy="4897131"/>
          </a:xfrm>
        </p:spPr>
        <p:txBody>
          <a:bodyPr>
            <a:normAutofit/>
          </a:bodyPr>
          <a:lstStyle/>
          <a:p>
            <a:pPr>
              <a:buFont typeface="+mj-lt"/>
              <a:buAutoNum type="arabicPeriod"/>
            </a:pPr>
            <a:r>
              <a:rPr lang="en-US" sz="1800" dirty="0"/>
              <a:t>Model evaluation measures the performance of the Machine Learning model. </a:t>
            </a:r>
          </a:p>
          <a:p>
            <a:pPr>
              <a:buFont typeface="+mj-lt"/>
              <a:buAutoNum type="arabicPeriod"/>
            </a:pPr>
            <a:r>
              <a:rPr lang="en-US" sz="1800" dirty="0"/>
              <a:t>The Random Forest model achieved approximately </a:t>
            </a:r>
            <a:r>
              <a:rPr lang="en-US" sz="1800" b="1" dirty="0"/>
              <a:t>79.56% accuracy</a:t>
            </a:r>
            <a:r>
              <a:rPr lang="en-US" sz="1800" dirty="0"/>
              <a:t>. </a:t>
            </a:r>
          </a:p>
          <a:p>
            <a:pPr>
              <a:buFont typeface="+mj-lt"/>
              <a:buAutoNum type="arabicPeriod"/>
            </a:pPr>
            <a:r>
              <a:rPr lang="en-US" sz="1800" dirty="0"/>
              <a:t>Accuracy shows how correctly the model predicts customer churn. </a:t>
            </a:r>
          </a:p>
          <a:p>
            <a:pPr>
              <a:buFont typeface="+mj-lt"/>
              <a:buAutoNum type="arabicPeriod"/>
            </a:pPr>
            <a:r>
              <a:rPr lang="en-US" sz="1800" dirty="0"/>
              <a:t>A Confusion Matrix was used to compare actual and predicted results. </a:t>
            </a:r>
          </a:p>
          <a:p>
            <a:pPr>
              <a:buFont typeface="+mj-lt"/>
              <a:buAutoNum type="arabicPeriod"/>
            </a:pPr>
            <a:r>
              <a:rPr lang="en-US" sz="1800" dirty="0"/>
              <a:t>A Classification Report provided: </a:t>
            </a:r>
          </a:p>
          <a:p>
            <a:pPr marL="800100" lvl="1" indent="-342900">
              <a:buFont typeface="+mj-lt"/>
              <a:buAutoNum type="arabicPeriod"/>
            </a:pPr>
            <a:r>
              <a:rPr lang="en-US" sz="1800" dirty="0"/>
              <a:t>Precision </a:t>
            </a:r>
          </a:p>
          <a:p>
            <a:pPr marL="800100" lvl="1" indent="-342900">
              <a:buFont typeface="+mj-lt"/>
              <a:buAutoNum type="arabicPeriod"/>
            </a:pPr>
            <a:r>
              <a:rPr lang="en-US" sz="1800" dirty="0"/>
              <a:t>Recall </a:t>
            </a:r>
          </a:p>
          <a:p>
            <a:pPr marL="800100" lvl="1" indent="-342900">
              <a:buFont typeface="+mj-lt"/>
              <a:buAutoNum type="arabicPeriod"/>
            </a:pPr>
            <a:r>
              <a:rPr lang="en-US" sz="1800" dirty="0"/>
              <a:t>F1-Score </a:t>
            </a:r>
          </a:p>
          <a:p>
            <a:pPr>
              <a:buFont typeface="+mj-lt"/>
              <a:buAutoNum type="arabicPeriod"/>
            </a:pPr>
            <a:r>
              <a:rPr lang="en-US" sz="1800" dirty="0"/>
              <a:t>The evaluation results indicate that the model performs effectively in predicting customer churn. </a:t>
            </a:r>
          </a:p>
          <a:p>
            <a:pPr>
              <a:buFont typeface="+mj-lt"/>
              <a:buAutoNum type="arabicPeriod"/>
            </a:pPr>
            <a:r>
              <a:rPr lang="en-US" sz="1800" dirty="0"/>
              <a:t>The model can help telecom companies identify high-risk customers and improve customer retention strategies.</a:t>
            </a:r>
          </a:p>
          <a:p>
            <a:pPr>
              <a:buFont typeface="+mj-lt"/>
              <a:buAutoNum type="arabicPeriod"/>
            </a:pPr>
            <a:endParaRPr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26DA8C6-D63D-0750-789E-032EEF4EFB30}"/>
              </a:ext>
            </a:extLst>
          </p:cNvPr>
          <p:cNvPicPr>
            <a:picLocks noGrp="1" noChangeAspect="1"/>
          </p:cNvPicPr>
          <p:nvPr>
            <p:ph idx="1"/>
          </p:nvPr>
        </p:nvPicPr>
        <p:blipFill>
          <a:blip r:embed="rId2"/>
          <a:srcRect l="24367" t="22340" r="34769" b="43648"/>
          <a:stretch>
            <a:fillRect/>
          </a:stretch>
        </p:blipFill>
        <p:spPr>
          <a:xfrm>
            <a:off x="1056640" y="492760"/>
            <a:ext cx="4775200" cy="2936240"/>
          </a:xfrm>
          <a:prstGeom prst="rect">
            <a:avLst/>
          </a:prstGeom>
        </p:spPr>
      </p:pic>
      <p:pic>
        <p:nvPicPr>
          <p:cNvPr id="7" name="Picture 6">
            <a:extLst>
              <a:ext uri="{FF2B5EF4-FFF2-40B4-BE49-F238E27FC236}">
                <a16:creationId xmlns:a16="http://schemas.microsoft.com/office/drawing/2014/main" id="{CE2355A3-ABDB-D150-7276-335E464AB057}"/>
              </a:ext>
            </a:extLst>
          </p:cNvPr>
          <p:cNvPicPr>
            <a:picLocks noChangeAspect="1"/>
          </p:cNvPicPr>
          <p:nvPr/>
        </p:nvPicPr>
        <p:blipFill>
          <a:blip r:embed="rId3"/>
          <a:srcRect l="20447" t="26100" r="36554" b="46253"/>
          <a:stretch>
            <a:fillRect/>
          </a:stretch>
        </p:blipFill>
        <p:spPr>
          <a:xfrm>
            <a:off x="934720" y="3139440"/>
            <a:ext cx="4775200" cy="2641600"/>
          </a:xfrm>
          <a:prstGeom prst="rect">
            <a:avLst/>
          </a:prstGeom>
        </p:spPr>
      </p:pic>
    </p:spTree>
    <p:extLst>
      <p:ext uri="{BB962C8B-B14F-4D97-AF65-F5344CB8AC3E}">
        <p14:creationId xmlns:p14="http://schemas.microsoft.com/office/powerpoint/2010/main" val="2950979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 Importance</a:t>
            </a:r>
          </a:p>
        </p:txBody>
      </p:sp>
      <p:sp>
        <p:nvSpPr>
          <p:cNvPr id="3" name="Content Placeholder 2"/>
          <p:cNvSpPr>
            <a:spLocks noGrp="1"/>
          </p:cNvSpPr>
          <p:nvPr>
            <p:ph idx="1"/>
          </p:nvPr>
        </p:nvSpPr>
        <p:spPr>
          <a:xfrm>
            <a:off x="457200" y="1209368"/>
            <a:ext cx="8229600" cy="4916795"/>
          </a:xfrm>
        </p:spPr>
        <p:txBody>
          <a:bodyPr>
            <a:normAutofit/>
          </a:bodyPr>
          <a:lstStyle/>
          <a:p>
            <a:pPr>
              <a:buFont typeface="+mj-lt"/>
              <a:buAutoNum type="arabicPeriod"/>
            </a:pPr>
            <a:r>
              <a:rPr lang="en-US" sz="1800" dirty="0"/>
              <a:t>Feature Importance identifies the most influential factors affecting customer churn. </a:t>
            </a:r>
          </a:p>
          <a:p>
            <a:pPr>
              <a:buFont typeface="+mj-lt"/>
              <a:buAutoNum type="arabicPeriod"/>
            </a:pPr>
            <a:r>
              <a:rPr lang="en-US" sz="1800" dirty="0"/>
              <a:t>The Random Forest model calculated the importance of each feature automatically. </a:t>
            </a:r>
          </a:p>
          <a:p>
            <a:pPr>
              <a:buFont typeface="+mj-lt"/>
              <a:buAutoNum type="arabicPeriod"/>
            </a:pPr>
            <a:r>
              <a:rPr lang="en-US" sz="1800" dirty="0"/>
              <a:t>Important features identified include: </a:t>
            </a:r>
          </a:p>
          <a:p>
            <a:pPr marL="800100" lvl="1" indent="-342900">
              <a:buFont typeface="+mj-lt"/>
              <a:buAutoNum type="arabicPeriod"/>
            </a:pPr>
            <a:r>
              <a:rPr lang="en-US" sz="1800" dirty="0"/>
              <a:t>Contract Type </a:t>
            </a:r>
          </a:p>
          <a:p>
            <a:pPr marL="800100" lvl="1" indent="-342900">
              <a:buFont typeface="+mj-lt"/>
              <a:buAutoNum type="arabicPeriod"/>
            </a:pPr>
            <a:r>
              <a:rPr lang="en-US" sz="1800" dirty="0"/>
              <a:t>Tenure </a:t>
            </a:r>
          </a:p>
          <a:p>
            <a:pPr marL="800100" lvl="1" indent="-342900">
              <a:buFont typeface="+mj-lt"/>
              <a:buAutoNum type="arabicPeriod"/>
            </a:pPr>
            <a:r>
              <a:rPr lang="en-US" sz="1800" dirty="0"/>
              <a:t>Monthly Charges </a:t>
            </a:r>
          </a:p>
          <a:p>
            <a:pPr marL="800100" lvl="1" indent="-342900">
              <a:buFont typeface="+mj-lt"/>
              <a:buAutoNum type="arabicPeriod"/>
            </a:pPr>
            <a:r>
              <a:rPr lang="en-US" sz="1800" dirty="0"/>
              <a:t>Total Charges </a:t>
            </a:r>
          </a:p>
          <a:p>
            <a:pPr marL="800100" lvl="1" indent="-342900">
              <a:buFont typeface="+mj-lt"/>
              <a:buAutoNum type="arabicPeriod"/>
            </a:pPr>
            <a:r>
              <a:rPr lang="en-US" sz="1800" dirty="0"/>
              <a:t>Internet Service </a:t>
            </a:r>
          </a:p>
          <a:p>
            <a:pPr>
              <a:buFont typeface="+mj-lt"/>
              <a:buAutoNum type="arabicPeriod"/>
            </a:pPr>
            <a:r>
              <a:rPr lang="en-US" sz="1800" dirty="0"/>
              <a:t>Customers with short contracts, low tenure, and high monthly charges are more likely to churn. </a:t>
            </a:r>
          </a:p>
          <a:p>
            <a:pPr>
              <a:buFont typeface="+mj-lt"/>
              <a:buAutoNum type="arabicPeriod"/>
            </a:pPr>
            <a:r>
              <a:rPr lang="en-US" sz="1800" dirty="0"/>
              <a:t>Feature importance analysis helps companies understand customer behavior and improve retention strategies. </a:t>
            </a:r>
          </a:p>
          <a:p>
            <a:pPr>
              <a:buFont typeface="+mj-lt"/>
              <a:buAutoNum type="arabicPeriod"/>
            </a:pPr>
            <a:r>
              <a:rPr lang="en-US" sz="1800" dirty="0"/>
              <a:t>A bar graph was created to visualize the importance of different features.</a:t>
            </a:r>
          </a:p>
          <a:p>
            <a:pPr>
              <a:buFont typeface="+mj-lt"/>
              <a:buAutoNum type="arabicPeriod"/>
            </a:pPr>
            <a:endParaRPr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EA1E7C5-9172-5002-B36B-0045BE72D855}"/>
              </a:ext>
            </a:extLst>
          </p:cNvPr>
          <p:cNvPicPr>
            <a:picLocks noGrp="1" noChangeAspect="1"/>
          </p:cNvPicPr>
          <p:nvPr>
            <p:ph idx="1"/>
          </p:nvPr>
        </p:nvPicPr>
        <p:blipFill>
          <a:blip r:embed="rId2"/>
          <a:srcRect l="2347" t="5026" r="2715" b="2910"/>
          <a:stretch>
            <a:fillRect/>
          </a:stretch>
        </p:blipFill>
        <p:spPr>
          <a:xfrm>
            <a:off x="751840" y="776134"/>
            <a:ext cx="7813040" cy="4696131"/>
          </a:xfrm>
          <a:prstGeom prst="rect">
            <a:avLst/>
          </a:prstGeom>
        </p:spPr>
      </p:pic>
    </p:spTree>
    <p:extLst>
      <p:ext uri="{BB962C8B-B14F-4D97-AF65-F5344CB8AC3E}">
        <p14:creationId xmlns:p14="http://schemas.microsoft.com/office/powerpoint/2010/main" val="1942368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06478"/>
            <a:ext cx="8229600" cy="5919686"/>
          </a:xfrm>
        </p:spPr>
        <p:txBody>
          <a:bodyPr>
            <a:normAutofit/>
          </a:bodyPr>
          <a:lstStyle/>
          <a:p>
            <a:pPr>
              <a:buFont typeface="Wingdings" panose="05000000000000000000" pitchFamily="2" charset="2"/>
              <a:buChar char="Ø"/>
            </a:pPr>
            <a:r>
              <a:rPr lang="en-US" sz="1800" b="1" dirty="0"/>
              <a:t>Advantages</a:t>
            </a:r>
          </a:p>
          <a:p>
            <a:pPr>
              <a:buFont typeface="+mj-lt"/>
              <a:buAutoNum type="arabicPeriod"/>
            </a:pPr>
            <a:r>
              <a:rPr lang="en-US" sz="1800" dirty="0"/>
              <a:t>Helps predict customers who are likely to leave the company. </a:t>
            </a:r>
          </a:p>
          <a:p>
            <a:pPr>
              <a:buFont typeface="+mj-lt"/>
              <a:buAutoNum type="arabicPeriod"/>
            </a:pPr>
            <a:r>
              <a:rPr lang="en-US" sz="1800" dirty="0"/>
              <a:t>Improves customer retention strategies. </a:t>
            </a:r>
          </a:p>
          <a:p>
            <a:pPr>
              <a:buFont typeface="+mj-lt"/>
              <a:buAutoNum type="arabicPeriod"/>
            </a:pPr>
            <a:r>
              <a:rPr lang="en-US" sz="1800" dirty="0"/>
              <a:t>Supports better business decision-making. </a:t>
            </a:r>
          </a:p>
          <a:p>
            <a:pPr>
              <a:buFont typeface="+mj-lt"/>
              <a:buAutoNum type="arabicPeriod"/>
            </a:pPr>
            <a:r>
              <a:rPr lang="en-US" sz="1800" dirty="0"/>
              <a:t>Reduces customer loss and increases profitability. </a:t>
            </a:r>
          </a:p>
          <a:p>
            <a:pPr>
              <a:buFont typeface="+mj-lt"/>
              <a:buAutoNum type="arabicPeriod"/>
            </a:pPr>
            <a:r>
              <a:rPr lang="en-US" sz="1800" dirty="0"/>
              <a:t>Random Forest provides good prediction accuracy. </a:t>
            </a:r>
          </a:p>
          <a:p>
            <a:pPr>
              <a:buFont typeface="+mj-lt"/>
              <a:buAutoNum type="arabicPeriod"/>
            </a:pPr>
            <a:r>
              <a:rPr lang="en-US" sz="1800" dirty="0"/>
              <a:t>Handles large datasets effectively. </a:t>
            </a:r>
          </a:p>
          <a:p>
            <a:pPr>
              <a:buFont typeface="+mj-lt"/>
              <a:buAutoNum type="arabicPeriod"/>
            </a:pPr>
            <a:r>
              <a:rPr lang="en-US" sz="1800" dirty="0"/>
              <a:t>Feature importance helps identify key churn factors. </a:t>
            </a:r>
            <a:br>
              <a:rPr lang="en-US" sz="1800" dirty="0"/>
            </a:br>
            <a:endParaRPr lang="en-US" sz="1800" dirty="0"/>
          </a:p>
          <a:p>
            <a:pPr>
              <a:buFont typeface="Wingdings" panose="05000000000000000000" pitchFamily="2" charset="2"/>
              <a:buChar char="Ø"/>
            </a:pPr>
            <a:r>
              <a:rPr lang="en-US" sz="1800" b="1" dirty="0"/>
              <a:t>Disadvantages</a:t>
            </a:r>
          </a:p>
          <a:p>
            <a:pPr>
              <a:buFont typeface="+mj-lt"/>
              <a:buAutoNum type="arabicPeriod"/>
            </a:pPr>
            <a:r>
              <a:rPr lang="en-US" sz="1800" dirty="0"/>
              <a:t>Prediction accuracy is not always 100%. </a:t>
            </a:r>
          </a:p>
          <a:p>
            <a:pPr>
              <a:buFont typeface="+mj-lt"/>
              <a:buAutoNum type="arabicPeriod"/>
            </a:pPr>
            <a:r>
              <a:rPr lang="en-US" sz="1800" dirty="0"/>
              <a:t>Requires proper data preprocessing and cleaning. </a:t>
            </a:r>
          </a:p>
          <a:p>
            <a:pPr>
              <a:buFont typeface="+mj-lt"/>
              <a:buAutoNum type="arabicPeriod"/>
            </a:pPr>
            <a:r>
              <a:rPr lang="en-US" sz="1800" dirty="0"/>
              <a:t>Random Forest model may take more training time for large datasets. </a:t>
            </a:r>
          </a:p>
          <a:p>
            <a:pPr>
              <a:buFont typeface="+mj-lt"/>
              <a:buAutoNum type="arabicPeriod"/>
            </a:pPr>
            <a:r>
              <a:rPr lang="en-US" sz="1800" dirty="0"/>
              <a:t>Results depend on the quality of the dataset. </a:t>
            </a:r>
          </a:p>
          <a:p>
            <a:pPr>
              <a:buFont typeface="+mj-lt"/>
              <a:buAutoNum type="arabicPeriod"/>
            </a:pPr>
            <a:r>
              <a:rPr lang="en-US" sz="1800" dirty="0"/>
              <a:t>Complex models can be difficult to interpret compared to simple algorithms. </a:t>
            </a:r>
          </a:p>
          <a:p>
            <a:pPr>
              <a:buFont typeface="+mj-lt"/>
              <a:buAutoNum type="arabicPeriod"/>
            </a:pPr>
            <a:r>
              <a:rPr lang="en-US" sz="1800" dirty="0"/>
              <a:t>Incorrect or missing data can affect model performance.</a:t>
            </a:r>
          </a:p>
          <a:p>
            <a:endParaRPr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Scope</a:t>
            </a:r>
          </a:p>
        </p:txBody>
      </p:sp>
      <p:sp>
        <p:nvSpPr>
          <p:cNvPr id="4" name="Rectangle 1">
            <a:extLst>
              <a:ext uri="{FF2B5EF4-FFF2-40B4-BE49-F238E27FC236}">
                <a16:creationId xmlns:a16="http://schemas.microsoft.com/office/drawing/2014/main" id="{23630D22-0DB5-D10C-602C-B738D3F6438B}"/>
              </a:ext>
            </a:extLst>
          </p:cNvPr>
          <p:cNvSpPr>
            <a:spLocks noGrp="1" noChangeArrowheads="1"/>
          </p:cNvSpPr>
          <p:nvPr>
            <p:ph idx="1"/>
          </p:nvPr>
        </p:nvSpPr>
        <p:spPr bwMode="auto">
          <a:xfrm>
            <a:off x="457200" y="1082773"/>
            <a:ext cx="767407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Use advanced Machine Learning algorithms such as </a:t>
            </a:r>
            <a:r>
              <a:rPr kumimoji="0" lang="en-US" altLang="en-US" sz="1800" b="0" i="0" u="none" strike="noStrike" cap="none" normalizeH="0" baseline="0" dirty="0" err="1">
                <a:ln>
                  <a:noFill/>
                </a:ln>
                <a:solidFill>
                  <a:schemeClr val="tx1"/>
                </a:solidFill>
                <a:effectLst/>
              </a:rPr>
              <a:t>XGBoost</a:t>
            </a:r>
            <a:r>
              <a:rPr kumimoji="0" lang="en-US" altLang="en-US" sz="1800" b="0" i="0" u="none" strike="noStrike" cap="none" normalizeH="0" baseline="0" dirty="0">
                <a:ln>
                  <a:noFill/>
                </a:ln>
                <a:solidFill>
                  <a:schemeClr val="tx1"/>
                </a:solidFill>
                <a:effectLst/>
              </a:rPr>
              <a:t> and Neural Networks to improve prediction accuracy. </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Deploy the project as a web application using </a:t>
            </a:r>
            <a:r>
              <a:rPr kumimoji="0" lang="en-US" altLang="en-US" sz="1800" b="0" i="0" u="none" strike="noStrike" cap="none" normalizeH="0" baseline="0" dirty="0" err="1">
                <a:ln>
                  <a:noFill/>
                </a:ln>
                <a:solidFill>
                  <a:schemeClr val="tx1"/>
                </a:solidFill>
                <a:effectLst/>
              </a:rPr>
              <a:t>Streamlit</a:t>
            </a:r>
            <a:r>
              <a:rPr kumimoji="0" lang="en-US" altLang="en-US" sz="1800" b="0" i="0" u="none" strike="noStrike" cap="none" normalizeH="0" baseline="0" dirty="0">
                <a:ln>
                  <a:noFill/>
                </a:ln>
                <a:solidFill>
                  <a:schemeClr val="tx1"/>
                </a:solidFill>
                <a:effectLst/>
              </a:rPr>
              <a:t> or Flask. </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Integrate real-time customer data for live churn prediction. </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Improve feature engineering and hyperparameter tuning for better performance. </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Apply the model in other industries such as banking, insurance, and e-commerce. </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Add customer feedback and social media analysis for more accurate predictions. </a:t>
            </a:r>
          </a:p>
          <a:p>
            <a:pPr marR="0" lvl="0"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Develop automated customer retention and recommendation systems based on churn predictions.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5" name="Rectangle 2">
            <a:extLst>
              <a:ext uri="{FF2B5EF4-FFF2-40B4-BE49-F238E27FC236}">
                <a16:creationId xmlns:a16="http://schemas.microsoft.com/office/drawing/2014/main" id="{2D1C453F-4784-B381-6F0C-B507038EDB54}"/>
              </a:ext>
            </a:extLst>
          </p:cNvPr>
          <p:cNvSpPr>
            <a:spLocks noGrp="1" noChangeArrowheads="1"/>
          </p:cNvSpPr>
          <p:nvPr>
            <p:ph idx="1"/>
          </p:nvPr>
        </p:nvSpPr>
        <p:spPr bwMode="auto">
          <a:xfrm>
            <a:off x="457200" y="1166107"/>
            <a:ext cx="810669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The Customer Churn Prediction project was successfully implemented using Machine Learning techniques. </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Data preprocessing, missing value handling, and label encoding were performed to prepare the dataset. </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The Random Forest algorithm was used to predict customer churn effectively. </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The model achieved approximately 79.56% accuracy, showing good prediction performance. </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Important factors influencing churn were identified using feature importance analysis. </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The project helps telecom companies identify high-risk customers and improve customer retention strategies. </a:t>
            </a:r>
          </a:p>
          <a:p>
            <a:pPr marR="0" lvl="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rPr>
              <a:t>This project demonstrates the practical application of Machine Learning in solving real-world business problems.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IN" sz="4000" dirty="0"/>
          </a:p>
          <a:p>
            <a:pPr marL="0" indent="0" algn="ctr">
              <a:buNone/>
            </a:pPr>
            <a:endParaRPr lang="en-IN" sz="4000" dirty="0"/>
          </a:p>
          <a:p>
            <a:pPr marL="0" indent="0" algn="ctr">
              <a:buNone/>
            </a:pPr>
            <a:r>
              <a:rPr lang="en-IN" sz="4000" dirty="0"/>
              <a:t>Thank You</a:t>
            </a:r>
            <a:endParaRPr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118</TotalTime>
  <Words>1921</Words>
  <Application>Microsoft Office PowerPoint</Application>
  <PresentationFormat>On-screen Show (4:3)</PresentationFormat>
  <Paragraphs>233</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Wingdings</vt:lpstr>
      <vt:lpstr>Office Theme</vt:lpstr>
      <vt:lpstr>PowerPoint Presentation</vt:lpstr>
      <vt:lpstr>Introduction</vt:lpstr>
      <vt:lpstr>Objective</vt:lpstr>
      <vt:lpstr>Dataset</vt:lpstr>
      <vt:lpstr>PowerPoint Presentation</vt:lpstr>
      <vt:lpstr>PowerPoint Presentation</vt:lpstr>
      <vt:lpstr>Technologies Used</vt:lpstr>
      <vt:lpstr>PowerPoint Presentation</vt:lpstr>
      <vt:lpstr>PowerPoint Presentation</vt:lpstr>
      <vt:lpstr>Data Preprocessing</vt:lpstr>
      <vt:lpstr>PowerPoint Presentation</vt:lpstr>
      <vt:lpstr>PowerPoint Presentation</vt:lpstr>
      <vt:lpstr>PowerPoint Presentation</vt:lpstr>
      <vt:lpstr>Machine Learning Model</vt:lpstr>
      <vt:lpstr>PowerPoint Presentation</vt:lpstr>
      <vt:lpstr>PowerPoint Presentation</vt:lpstr>
      <vt:lpstr>PowerPoint Presentation</vt:lpstr>
      <vt:lpstr>Model Evaluation</vt:lpstr>
      <vt:lpstr>PowerPoint Presentation</vt:lpstr>
      <vt:lpstr>Feature Importance</vt:lpstr>
      <vt:lpstr>PowerPoint Presentation</vt:lpstr>
      <vt:lpstr>PowerPoint Presentation</vt:lpstr>
      <vt:lpstr>Future Scope</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BONAGIRI GEETHA</dc:creator>
  <cp:keywords/>
  <dc:description>generated using python-pptx</dc:description>
  <cp:lastModifiedBy>BONAGIRI GEETHA</cp:lastModifiedBy>
  <cp:revision>10</cp:revision>
  <dcterms:created xsi:type="dcterms:W3CDTF">2013-01-27T09:14:16Z</dcterms:created>
  <dcterms:modified xsi:type="dcterms:W3CDTF">2026-05-15T04:11:06Z</dcterms:modified>
  <cp:category/>
</cp:coreProperties>
</file>